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01" r:id="rId2"/>
    <p:sldId id="260" r:id="rId3"/>
    <p:sldId id="298" r:id="rId4"/>
    <p:sldId id="261" r:id="rId5"/>
    <p:sldId id="263" r:id="rId6"/>
    <p:sldId id="264" r:id="rId7"/>
    <p:sldId id="287" r:id="rId8"/>
    <p:sldId id="265" r:id="rId9"/>
    <p:sldId id="266" r:id="rId10"/>
    <p:sldId id="299" r:id="rId11"/>
    <p:sldId id="268" r:id="rId12"/>
    <p:sldId id="269" r:id="rId13"/>
    <p:sldId id="271" r:id="rId14"/>
    <p:sldId id="273" r:id="rId15"/>
    <p:sldId id="275" r:id="rId16"/>
    <p:sldId id="277" r:id="rId17"/>
    <p:sldId id="279" r:id="rId18"/>
    <p:sldId id="280" r:id="rId19"/>
    <p:sldId id="282" r:id="rId20"/>
    <p:sldId id="284" r:id="rId21"/>
    <p:sldId id="285" r:id="rId22"/>
    <p:sldId id="267" r:id="rId23"/>
    <p:sldId id="30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56BB14-AA0E-44DC-8D24-DAB76279D8A1}" type="doc">
      <dgm:prSet loTypeId="urn:microsoft.com/office/officeart/2005/8/layout/arrow2" loCatId="process" qsTypeId="urn:microsoft.com/office/officeart/2005/8/quickstyle/simple1#1" qsCatId="simple" csTypeId="urn:microsoft.com/office/officeart/2005/8/colors/accent2_2#1" csCatId="accent2" phldr="1"/>
      <dgm:spPr/>
    </dgm:pt>
    <dgm:pt modelId="{ED15B26A-A26D-4000-87B3-F1DC0F368427}">
      <dgm:prSet phldrT="[Text]"/>
      <dgm:spPr/>
      <dgm:t>
        <a:bodyPr/>
        <a:lstStyle/>
        <a:p>
          <a:r>
            <a:rPr lang="en-IN" b="1">
              <a:latin typeface="Calibri" panose="020F0502020204030204" pitchFamily="34" charset="0"/>
              <a:ea typeface="+mn-ea"/>
              <a:cs typeface="Times New Roman" panose="02020603050405020304" pitchFamily="18" charset="0"/>
            </a:rPr>
            <a:t>Basic Excel</a:t>
          </a:r>
          <a:endParaRPr lang="en-IN"/>
        </a:p>
      </dgm:t>
    </dgm:pt>
    <dgm:pt modelId="{5ED6B63B-0F12-4FBF-89EE-4550CC885FBE}" type="parTrans" cxnId="{B8ED2CAB-12B3-4DFF-944F-37E1E825983E}">
      <dgm:prSet/>
      <dgm:spPr/>
      <dgm:t>
        <a:bodyPr/>
        <a:lstStyle/>
        <a:p>
          <a:endParaRPr lang="en-IN"/>
        </a:p>
      </dgm:t>
    </dgm:pt>
    <dgm:pt modelId="{60AC9017-90F6-48E4-B7D9-47DBE8AEBAA1}" type="sibTrans" cxnId="{B8ED2CAB-12B3-4DFF-944F-37E1E825983E}">
      <dgm:prSet/>
      <dgm:spPr/>
      <dgm:t>
        <a:bodyPr/>
        <a:lstStyle/>
        <a:p>
          <a:endParaRPr lang="en-IN"/>
        </a:p>
      </dgm:t>
    </dgm:pt>
    <dgm:pt modelId="{E013CAC4-FEAB-4039-87F8-B681C6074F8D}">
      <dgm:prSet phldrT="[Text]"/>
      <dgm:spPr/>
      <dgm:t>
        <a:bodyPr/>
        <a:lstStyle/>
        <a:p>
          <a:r>
            <a:rPr lang="en-IN" b="1">
              <a:latin typeface="Calibri" panose="020F0502020204030204" pitchFamily="34" charset="0"/>
              <a:ea typeface="+mn-ea"/>
              <a:cs typeface="Times New Roman" panose="02020603050405020304" pitchFamily="18" charset="0"/>
            </a:rPr>
            <a:t>Intermediate Excel</a:t>
          </a:r>
          <a:endParaRPr lang="en-IN"/>
        </a:p>
      </dgm:t>
    </dgm:pt>
    <dgm:pt modelId="{21BB62E9-961B-465E-8557-36F8DD61EE00}" type="parTrans" cxnId="{34FD8DFD-DC9C-47D6-81C1-5E14A978B4A3}">
      <dgm:prSet/>
      <dgm:spPr/>
      <dgm:t>
        <a:bodyPr/>
        <a:lstStyle/>
        <a:p>
          <a:endParaRPr lang="en-IN"/>
        </a:p>
      </dgm:t>
    </dgm:pt>
    <dgm:pt modelId="{B5D8D7EA-6CD1-4E81-AC50-F096B71F2C31}" type="sibTrans" cxnId="{34FD8DFD-DC9C-47D6-81C1-5E14A978B4A3}">
      <dgm:prSet/>
      <dgm:spPr/>
      <dgm:t>
        <a:bodyPr/>
        <a:lstStyle/>
        <a:p>
          <a:endParaRPr lang="en-IN"/>
        </a:p>
      </dgm:t>
    </dgm:pt>
    <dgm:pt modelId="{3A8693BE-934D-4807-8717-04E1F720EA41}">
      <dgm:prSet phldrT="[Text]"/>
      <dgm:spPr/>
      <dgm:t>
        <a:bodyPr/>
        <a:lstStyle/>
        <a:p>
          <a:r>
            <a:rPr lang="en-IN" b="1" dirty="0">
              <a:latin typeface="Calibri" panose="020F0502020204030204" pitchFamily="34" charset="0"/>
              <a:ea typeface="+mn-ea"/>
              <a:cs typeface="Times New Roman" panose="02020603050405020304" pitchFamily="18" charset="0"/>
            </a:rPr>
            <a:t>Advanced </a:t>
          </a:r>
        </a:p>
        <a:p>
          <a:r>
            <a:rPr lang="en-IN" b="1" dirty="0">
              <a:latin typeface="Calibri" panose="020F0502020204030204" pitchFamily="34" charset="0"/>
              <a:ea typeface="+mn-ea"/>
              <a:cs typeface="Times New Roman" panose="02020603050405020304" pitchFamily="18" charset="0"/>
            </a:rPr>
            <a:t>Excel</a:t>
          </a:r>
          <a:endParaRPr lang="en-IN" dirty="0"/>
        </a:p>
      </dgm:t>
    </dgm:pt>
    <dgm:pt modelId="{B3539968-3A48-4F5A-AC1C-EFC61CB0998F}" type="parTrans" cxnId="{E17D9D85-1E88-4B13-A7F9-B64EC09A8F83}">
      <dgm:prSet/>
      <dgm:spPr/>
      <dgm:t>
        <a:bodyPr/>
        <a:lstStyle/>
        <a:p>
          <a:endParaRPr lang="en-IN"/>
        </a:p>
      </dgm:t>
    </dgm:pt>
    <dgm:pt modelId="{EAD8C1FC-7F87-477C-9E31-A310C9CD9863}" type="sibTrans" cxnId="{E17D9D85-1E88-4B13-A7F9-B64EC09A8F83}">
      <dgm:prSet/>
      <dgm:spPr/>
      <dgm:t>
        <a:bodyPr/>
        <a:lstStyle/>
        <a:p>
          <a:endParaRPr lang="en-IN"/>
        </a:p>
      </dgm:t>
    </dgm:pt>
    <dgm:pt modelId="{0235CB1E-DFEB-42C4-A56A-B16851D39AD2}" type="pres">
      <dgm:prSet presAssocID="{5C56BB14-AA0E-44DC-8D24-DAB76279D8A1}" presName="arrowDiagram" presStyleCnt="0">
        <dgm:presLayoutVars>
          <dgm:chMax val="5"/>
          <dgm:dir/>
          <dgm:resizeHandles val="exact"/>
        </dgm:presLayoutVars>
      </dgm:prSet>
      <dgm:spPr/>
    </dgm:pt>
    <dgm:pt modelId="{AF1629F2-F165-4515-8F78-A1CB77B4A5BE}" type="pres">
      <dgm:prSet presAssocID="{5C56BB14-AA0E-44DC-8D24-DAB76279D8A1}" presName="arrow" presStyleLbl="bgShp" presStyleIdx="0" presStyleCnt="1" custScaleX="115756" custLinFactNeighborX="-232" custLinFactNeighborY="1298"/>
      <dgm:spPr>
        <a:solidFill>
          <a:schemeClr val="accent1">
            <a:lumMod val="60000"/>
            <a:lumOff val="40000"/>
          </a:schemeClr>
        </a:solidFill>
      </dgm:spPr>
    </dgm:pt>
    <dgm:pt modelId="{55ECD2A1-216F-4656-954F-1547CF909BD7}" type="pres">
      <dgm:prSet presAssocID="{5C56BB14-AA0E-44DC-8D24-DAB76279D8A1}" presName="arrowDiagram3" presStyleCnt="0"/>
      <dgm:spPr/>
    </dgm:pt>
    <dgm:pt modelId="{6AC20F7D-9572-47BE-80F5-69D49FF4B100}" type="pres">
      <dgm:prSet presAssocID="{ED15B26A-A26D-4000-87B3-F1DC0F368427}" presName="bullet3a" presStyleLbl="node1" presStyleIdx="0" presStyleCnt="3"/>
      <dgm:spPr/>
    </dgm:pt>
    <dgm:pt modelId="{F2B1B179-9834-4D0B-B4FF-B2C8E7F621CC}" type="pres">
      <dgm:prSet presAssocID="{ED15B26A-A26D-4000-87B3-F1DC0F368427}" presName="textBox3a" presStyleLbl="revTx" presStyleIdx="0" presStyleCnt="3">
        <dgm:presLayoutVars>
          <dgm:bulletEnabled val="1"/>
        </dgm:presLayoutVars>
      </dgm:prSet>
      <dgm:spPr/>
    </dgm:pt>
    <dgm:pt modelId="{67CCC103-A3CF-4701-B877-2AF861A70B0B}" type="pres">
      <dgm:prSet presAssocID="{E013CAC4-FEAB-4039-87F8-B681C6074F8D}" presName="bullet3b" presStyleLbl="node1" presStyleIdx="1" presStyleCnt="3"/>
      <dgm:spPr/>
    </dgm:pt>
    <dgm:pt modelId="{DBC29719-0677-40BA-A553-06CA0EE0C581}" type="pres">
      <dgm:prSet presAssocID="{E013CAC4-FEAB-4039-87F8-B681C6074F8D}" presName="textBox3b" presStyleLbl="revTx" presStyleIdx="1" presStyleCnt="3">
        <dgm:presLayoutVars>
          <dgm:bulletEnabled val="1"/>
        </dgm:presLayoutVars>
      </dgm:prSet>
      <dgm:spPr/>
    </dgm:pt>
    <dgm:pt modelId="{5A2D03A9-A3BC-4B0C-9FEA-7862AE952B5E}" type="pres">
      <dgm:prSet presAssocID="{3A8693BE-934D-4807-8717-04E1F720EA41}" presName="bullet3c" presStyleLbl="node1" presStyleIdx="2" presStyleCnt="3"/>
      <dgm:spPr/>
    </dgm:pt>
    <dgm:pt modelId="{BB9FFD52-A0A2-49D7-9873-07F42E20B790}" type="pres">
      <dgm:prSet presAssocID="{3A8693BE-934D-4807-8717-04E1F720EA41}" presName="textBox3c" presStyleLbl="revTx" presStyleIdx="2" presStyleCnt="3" custLinFactNeighborX="6280" custLinFactNeighborY="-5071">
        <dgm:presLayoutVars>
          <dgm:bulletEnabled val="1"/>
        </dgm:presLayoutVars>
      </dgm:prSet>
      <dgm:spPr/>
    </dgm:pt>
  </dgm:ptLst>
  <dgm:cxnLst>
    <dgm:cxn modelId="{BDB5CE0A-DD27-42D3-A801-626BE1923010}" type="presOf" srcId="{ED15B26A-A26D-4000-87B3-F1DC0F368427}" destId="{F2B1B179-9834-4D0B-B4FF-B2C8E7F621CC}" srcOrd="0" destOrd="0" presId="urn:microsoft.com/office/officeart/2005/8/layout/arrow2"/>
    <dgm:cxn modelId="{68303450-05BD-4979-AF9E-A6B8B879B090}" type="presOf" srcId="{5C56BB14-AA0E-44DC-8D24-DAB76279D8A1}" destId="{0235CB1E-DFEB-42C4-A56A-B16851D39AD2}" srcOrd="0" destOrd="0" presId="urn:microsoft.com/office/officeart/2005/8/layout/arrow2"/>
    <dgm:cxn modelId="{E17D9D85-1E88-4B13-A7F9-B64EC09A8F83}" srcId="{5C56BB14-AA0E-44DC-8D24-DAB76279D8A1}" destId="{3A8693BE-934D-4807-8717-04E1F720EA41}" srcOrd="2" destOrd="0" parTransId="{B3539968-3A48-4F5A-AC1C-EFC61CB0998F}" sibTransId="{EAD8C1FC-7F87-477C-9E31-A310C9CD9863}"/>
    <dgm:cxn modelId="{B8ED2CAB-12B3-4DFF-944F-37E1E825983E}" srcId="{5C56BB14-AA0E-44DC-8D24-DAB76279D8A1}" destId="{ED15B26A-A26D-4000-87B3-F1DC0F368427}" srcOrd="0" destOrd="0" parTransId="{5ED6B63B-0F12-4FBF-89EE-4550CC885FBE}" sibTransId="{60AC9017-90F6-48E4-B7D9-47DBE8AEBAA1}"/>
    <dgm:cxn modelId="{1C83F0E1-F5C2-45DB-87BD-D251591E7CD4}" type="presOf" srcId="{E013CAC4-FEAB-4039-87F8-B681C6074F8D}" destId="{DBC29719-0677-40BA-A553-06CA0EE0C581}" srcOrd="0" destOrd="0" presId="urn:microsoft.com/office/officeart/2005/8/layout/arrow2"/>
    <dgm:cxn modelId="{9DA2B7E2-F107-4A16-88D5-D2E3A128D59D}" type="presOf" srcId="{3A8693BE-934D-4807-8717-04E1F720EA41}" destId="{BB9FFD52-A0A2-49D7-9873-07F42E20B790}" srcOrd="0" destOrd="0" presId="urn:microsoft.com/office/officeart/2005/8/layout/arrow2"/>
    <dgm:cxn modelId="{34FD8DFD-DC9C-47D6-81C1-5E14A978B4A3}" srcId="{5C56BB14-AA0E-44DC-8D24-DAB76279D8A1}" destId="{E013CAC4-FEAB-4039-87F8-B681C6074F8D}" srcOrd="1" destOrd="0" parTransId="{21BB62E9-961B-465E-8557-36F8DD61EE00}" sibTransId="{B5D8D7EA-6CD1-4E81-AC50-F096B71F2C31}"/>
    <dgm:cxn modelId="{531F782E-9609-4BFC-8957-520B79993A08}" type="presParOf" srcId="{0235CB1E-DFEB-42C4-A56A-B16851D39AD2}" destId="{AF1629F2-F165-4515-8F78-A1CB77B4A5BE}" srcOrd="0" destOrd="0" presId="urn:microsoft.com/office/officeart/2005/8/layout/arrow2"/>
    <dgm:cxn modelId="{8A92D8D0-59DF-46EE-904D-B26F05D1BC97}" type="presParOf" srcId="{0235CB1E-DFEB-42C4-A56A-B16851D39AD2}" destId="{55ECD2A1-216F-4656-954F-1547CF909BD7}" srcOrd="1" destOrd="0" presId="urn:microsoft.com/office/officeart/2005/8/layout/arrow2"/>
    <dgm:cxn modelId="{76898D47-1FB9-4063-8EC6-002E745666B1}" type="presParOf" srcId="{55ECD2A1-216F-4656-954F-1547CF909BD7}" destId="{6AC20F7D-9572-47BE-80F5-69D49FF4B100}" srcOrd="0" destOrd="0" presId="urn:microsoft.com/office/officeart/2005/8/layout/arrow2"/>
    <dgm:cxn modelId="{4B71EE53-4CF1-4E97-A93C-D6C9775C1B1D}" type="presParOf" srcId="{55ECD2A1-216F-4656-954F-1547CF909BD7}" destId="{F2B1B179-9834-4D0B-B4FF-B2C8E7F621CC}" srcOrd="1" destOrd="0" presId="urn:microsoft.com/office/officeart/2005/8/layout/arrow2"/>
    <dgm:cxn modelId="{FB0643BF-6E64-42D4-BD69-58CB3631C8E4}" type="presParOf" srcId="{55ECD2A1-216F-4656-954F-1547CF909BD7}" destId="{67CCC103-A3CF-4701-B877-2AF861A70B0B}" srcOrd="2" destOrd="0" presId="urn:microsoft.com/office/officeart/2005/8/layout/arrow2"/>
    <dgm:cxn modelId="{10D8E8B8-9808-4A9F-8FD0-C2E22418DBC3}" type="presParOf" srcId="{55ECD2A1-216F-4656-954F-1547CF909BD7}" destId="{DBC29719-0677-40BA-A553-06CA0EE0C581}" srcOrd="3" destOrd="0" presId="urn:microsoft.com/office/officeart/2005/8/layout/arrow2"/>
    <dgm:cxn modelId="{2B08C5E4-7621-4AD8-B292-BED0D4FA48BD}" type="presParOf" srcId="{55ECD2A1-216F-4656-954F-1547CF909BD7}" destId="{5A2D03A9-A3BC-4B0C-9FEA-7862AE952B5E}" srcOrd="4" destOrd="0" presId="urn:microsoft.com/office/officeart/2005/8/layout/arrow2"/>
    <dgm:cxn modelId="{54077FF7-F8D2-4BA5-A12B-2EFD12961159}" type="presParOf" srcId="{55ECD2A1-216F-4656-954F-1547CF909BD7}" destId="{BB9FFD52-A0A2-49D7-9873-07F42E20B790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1629F2-F165-4515-8F78-A1CB77B4A5BE}">
      <dsp:nvSpPr>
        <dsp:cNvPr id="0" name=""/>
        <dsp:cNvSpPr/>
      </dsp:nvSpPr>
      <dsp:spPr>
        <a:xfrm>
          <a:off x="482754" y="0"/>
          <a:ext cx="9817640" cy="5300827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C20F7D-9572-47BE-80F5-69D49FF4B100}">
      <dsp:nvSpPr>
        <dsp:cNvPr id="0" name=""/>
        <dsp:cNvSpPr/>
      </dsp:nvSpPr>
      <dsp:spPr>
        <a:xfrm>
          <a:off x="2247717" y="3658630"/>
          <a:ext cx="220514" cy="22051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B1B179-9834-4D0B-B4FF-B2C8E7F621CC}">
      <dsp:nvSpPr>
        <dsp:cNvPr id="0" name=""/>
        <dsp:cNvSpPr/>
      </dsp:nvSpPr>
      <dsp:spPr>
        <a:xfrm>
          <a:off x="2357975" y="3768887"/>
          <a:ext cx="1976148" cy="1531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46" tIns="0" rIns="0" bIns="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>
              <a:latin typeface="Calibri" panose="020F0502020204030204" pitchFamily="34" charset="0"/>
              <a:ea typeface="+mn-ea"/>
              <a:cs typeface="Times New Roman" panose="02020603050405020304" pitchFamily="18" charset="0"/>
            </a:rPr>
            <a:t>Basic Excel</a:t>
          </a:r>
          <a:endParaRPr lang="en-IN" sz="2600" kern="1200"/>
        </a:p>
      </dsp:txBody>
      <dsp:txXfrm>
        <a:off x="2357975" y="3768887"/>
        <a:ext cx="1976148" cy="1531939"/>
      </dsp:txXfrm>
    </dsp:sp>
    <dsp:sp modelId="{67CCC103-A3CF-4701-B877-2AF861A70B0B}">
      <dsp:nvSpPr>
        <dsp:cNvPr id="0" name=""/>
        <dsp:cNvSpPr/>
      </dsp:nvSpPr>
      <dsp:spPr>
        <a:xfrm>
          <a:off x="4194181" y="2217866"/>
          <a:ext cx="398622" cy="39862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C29719-0677-40BA-A553-06CA0EE0C581}">
      <dsp:nvSpPr>
        <dsp:cNvPr id="0" name=""/>
        <dsp:cNvSpPr/>
      </dsp:nvSpPr>
      <dsp:spPr>
        <a:xfrm>
          <a:off x="4393492" y="2417177"/>
          <a:ext cx="2035517" cy="2883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222" tIns="0" rIns="0" bIns="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>
              <a:latin typeface="Calibri" panose="020F0502020204030204" pitchFamily="34" charset="0"/>
              <a:ea typeface="+mn-ea"/>
              <a:cs typeface="Times New Roman" panose="02020603050405020304" pitchFamily="18" charset="0"/>
            </a:rPr>
            <a:t>Intermediate Excel</a:t>
          </a:r>
          <a:endParaRPr lang="en-IN" sz="2600" kern="1200"/>
        </a:p>
      </dsp:txBody>
      <dsp:txXfrm>
        <a:off x="4393492" y="2417177"/>
        <a:ext cx="2035517" cy="2883649"/>
      </dsp:txXfrm>
    </dsp:sp>
    <dsp:sp modelId="{5A2D03A9-A3BC-4B0C-9FEA-7862AE952B5E}">
      <dsp:nvSpPr>
        <dsp:cNvPr id="0" name=""/>
        <dsp:cNvSpPr/>
      </dsp:nvSpPr>
      <dsp:spPr>
        <a:xfrm>
          <a:off x="6535026" y="1341109"/>
          <a:ext cx="551286" cy="55128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FFD52-A0A2-49D7-9873-07F42E20B790}">
      <dsp:nvSpPr>
        <dsp:cNvPr id="0" name=""/>
        <dsp:cNvSpPr/>
      </dsp:nvSpPr>
      <dsp:spPr>
        <a:xfrm>
          <a:off x="6938500" y="1429932"/>
          <a:ext cx="2035517" cy="3684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15" tIns="0" rIns="0" bIns="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>
              <a:latin typeface="Calibri" panose="020F0502020204030204" pitchFamily="34" charset="0"/>
              <a:ea typeface="+mn-ea"/>
              <a:cs typeface="Times New Roman" panose="02020603050405020304" pitchFamily="18" charset="0"/>
            </a:rPr>
            <a:t>Advanced 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>
              <a:latin typeface="Calibri" panose="020F0502020204030204" pitchFamily="34" charset="0"/>
              <a:ea typeface="+mn-ea"/>
              <a:cs typeface="Times New Roman" panose="02020603050405020304" pitchFamily="18" charset="0"/>
            </a:rPr>
            <a:t>Excel</a:t>
          </a:r>
          <a:endParaRPr lang="en-IN" sz="2600" kern="1200" dirty="0"/>
        </a:p>
      </dsp:txBody>
      <dsp:txXfrm>
        <a:off x="6938500" y="1429932"/>
        <a:ext cx="2035517" cy="36840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CF3F22-EB95-439C-8368-FAB3954B0B67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31127-285A-4C2E-A491-FF354107C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29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31127-285A-4C2E-A491-FF354107C89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625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B33D-5EF2-1487-E241-F5C0F9C3B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20D87C-2746-86E1-846C-6911CF269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F19A4-0E3B-1411-1CE8-5421EAF38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F717-FE5A-4A09-95CB-8AE67427BF6E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1F16B-674D-0AD9-CF65-17FC3246D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C4A7C-2CA4-D5A1-6D45-FD9845469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E33A-24EB-475A-AFE8-556CECB3A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5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9DB35-655D-07B2-91E5-6EE9171BD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68A13-09F3-328D-D526-976217F8A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F6191-3F50-6BAB-C145-511CD47CF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F717-FE5A-4A09-95CB-8AE67427BF6E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DD92A-F6E0-BAFD-F81B-32D3855A1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4450F-D331-1445-008F-4029FCA75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E33A-24EB-475A-AFE8-556CECB3A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496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03299-71ED-D795-0AF8-AEB255EF3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77342-B027-8068-A539-4F8D82FD1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A2311-6C07-FD88-7618-176365908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F717-FE5A-4A09-95CB-8AE67427BF6E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364D6-FC80-61B7-AB3E-78741FDB1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A7673-CEB3-8C38-4A78-0E0852215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E33A-24EB-475A-AFE8-556CECB3A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84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2AFFA-3859-68DF-D2C7-D4466533B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21A95-7E8D-63CA-AE89-1A9260E874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B41E03-7CE5-F108-83B1-029726171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794AF-B772-32EE-AEBD-DBFAFEE5A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F717-FE5A-4A09-95CB-8AE67427BF6E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DCD2F-8298-865C-8A16-7F0AA5F4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744AB-A99F-70A1-F752-91DF89012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E33A-24EB-475A-AFE8-556CECB3A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443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F2A-1393-E942-FD9D-20F3FD244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ADD18-9A57-2D8C-FC28-D80046A37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88CE3A-D4BF-8B1E-F1BC-F352E7C81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F3A9E2-2439-4BA9-CD7A-2A12F56035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168FF2-7726-A8B5-BDB1-F1E33A9D56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757E95-6B24-CC67-2D0E-93D6269E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F717-FE5A-4A09-95CB-8AE67427BF6E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B09043-BEDB-3D60-9F3E-CAE8D28C4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67B495-113F-8233-E588-8F538A134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E33A-24EB-475A-AFE8-556CECB3A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46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7644A-9C1F-565B-1EA9-0A694D195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AEA0BF-57F4-FA72-CC46-0E7A4310A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F717-FE5A-4A09-95CB-8AE67427BF6E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A8736-7459-D021-808B-05B2EAE36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3331BE-E113-621F-2CB1-0C75D2A60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E33A-24EB-475A-AFE8-556CECB3A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95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93F6BB-9CA5-76EE-4454-442525904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F717-FE5A-4A09-95CB-8AE67427BF6E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026596-67AE-657A-B02E-5C681F66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C0D5F-E307-B30A-AE3C-1C45D526A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E33A-24EB-475A-AFE8-556CECB3A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35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D4E48-38A2-8FAA-9E05-20EED3967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943F5-C79B-CF4A-5289-E8ED46410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315664-FF32-CA98-EE07-8BC6AC730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21BB9-0C26-D037-766F-2EF7211C0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F717-FE5A-4A09-95CB-8AE67427BF6E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EDC6F-0BBB-166B-742D-0F5002642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4C1DA-E197-BF0B-A487-DFBC4EC86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E33A-24EB-475A-AFE8-556CECB3A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52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78D01-346E-B48A-3692-1FC6EF827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F26CB0-1172-6576-6952-C7427FD0C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333F31-4F64-39E6-19D3-12389D232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551486-53CB-46F9-BC6E-2CF94C5E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F717-FE5A-4A09-95CB-8AE67427BF6E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E9043-BFE3-9B16-54C7-5B49BC653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B882A-8573-AB94-E59E-08629DD41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E33A-24EB-475A-AFE8-556CECB3A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69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EDF50-DC94-5B9E-23B9-8A1959C8D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80E4C-80C7-EB15-6E6B-F9D0243B8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2812E-2DA1-7E43-C416-9A365E731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F717-FE5A-4A09-95CB-8AE67427BF6E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B702E-0067-9829-216A-31AC6DFB6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44D18-4AD1-D220-D12D-F1B0F1CA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E33A-24EB-475A-AFE8-556CECB3A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10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B7D421-30F7-9173-A29D-0DE709BDB9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C2598E-81EA-3A20-B839-1CD98A88A8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73298-6D5E-D941-022C-1AF9268F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F717-FE5A-4A09-95CB-8AE67427BF6E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945B8-264F-EA36-5EF6-EC12E171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DD6E4-B491-5F5B-D1D6-305FA94AC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E33A-24EB-475A-AFE8-556CECB3A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2188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FD599-C4EB-DB8A-7A5E-2165EB828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343F9-010C-4261-5503-F8F5220DD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06E97-3BC7-99C4-ABAD-5A9B08BE8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4EAF0-84E6-48E3-A3F1-BC3FE3BACD78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F86BC-9E40-0C9C-997D-C5CC33A35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F4A56-BD63-F3A3-4443-67444EF13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4E89-2E54-44AA-AB64-286B2B626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5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C47F9E-F1C8-15F9-4632-281916EFC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AC3FD-9ED1-5573-E691-90A42D5A7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63AB1-376E-D520-4FCB-DF7E1CB52C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BF717-FE5A-4A09-95CB-8AE67427BF6E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22209-8885-757E-7BC6-D58F347593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4057A-CF4A-A05F-3BCD-0FA1F6032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56E33A-24EB-475A-AFE8-556CECB3A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44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Dashboard.xlsx" TargetMode="Externa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pngimg.com/download/66580" TargetMode="External"/><Relationship Id="rId5" Type="http://schemas.openxmlformats.org/officeDocument/2006/relationships/image" Target="../media/image16.png"/><Relationship Id="rId4" Type="http://schemas.openxmlformats.org/officeDocument/2006/relationships/hyperlink" Target="http://www.thedailymba.com/2016/06/15/time-tested-strategies-to-crush-your-mba-interview/hand_shak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99B11E-E6A2-A09A-C908-0DB0A30FAE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-1504" y="0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540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lculator and folders">
            <a:extLst>
              <a:ext uri="{FF2B5EF4-FFF2-40B4-BE49-F238E27FC236}">
                <a16:creationId xmlns:a16="http://schemas.microsoft.com/office/drawing/2014/main" id="{4B9CBA2B-28B5-40AB-34FD-0489C8392E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16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54F119-3737-C260-8D57-379989ECA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4753" y="0"/>
            <a:ext cx="3822189" cy="13866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baseline="0" dirty="0">
                <a:ln w="22225">
                  <a:solidFill>
                    <a:srgbClr val="FFFFFF"/>
                  </a:solidFill>
                </a:ln>
              </a:rPr>
              <a:t>What is Microsoft Excel?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93554-4DD5-CA42-B8C6-BE27F97F3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35298" y="1386673"/>
            <a:ext cx="4489636" cy="5225142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2000" b="1" i="0" u="none" strike="noStrike" baseline="0" dirty="0"/>
              <a:t>Excel Overview</a:t>
            </a:r>
          </a:p>
          <a:p>
            <a:pPr marR="0" lvl="0"/>
            <a:r>
              <a:rPr lang="en-US" sz="2000" b="0" i="0" u="none" strike="noStrike" baseline="0" dirty="0"/>
              <a:t>Microsoft Excel is a spreadsheet application used to work with data.</a:t>
            </a:r>
          </a:p>
          <a:p>
            <a:pPr marR="0" lvl="0"/>
            <a:r>
              <a:rPr lang="en-US" sz="2000" b="0" i="0" u="none" strike="noStrike" baseline="0" dirty="0"/>
              <a:t>It allows users to:</a:t>
            </a:r>
          </a:p>
          <a:p>
            <a:pPr marR="0" lvl="0"/>
            <a:r>
              <a:rPr lang="en-US" sz="2000" b="0" i="0" u="none" strike="noStrike" baseline="0" dirty="0"/>
              <a:t>Enter and organize information</a:t>
            </a:r>
          </a:p>
          <a:p>
            <a:pPr marR="0" lvl="0"/>
            <a:r>
              <a:rPr lang="en-US" sz="2000" b="0" i="0" u="none" strike="noStrike" baseline="0" dirty="0"/>
              <a:t>Perform calculations</a:t>
            </a:r>
          </a:p>
          <a:p>
            <a:pPr marR="0" lvl="0"/>
            <a:r>
              <a:rPr lang="en-US" sz="2000" b="0" i="0" u="none" strike="noStrike" baseline="0" dirty="0"/>
              <a:t>Manage records</a:t>
            </a:r>
          </a:p>
          <a:p>
            <a:pPr marR="0" lvl="0"/>
            <a:r>
              <a:rPr lang="en-US" sz="2000" b="0" i="0" u="none" strike="noStrike" baseline="0" dirty="0"/>
              <a:t>Analyze data</a:t>
            </a:r>
          </a:p>
          <a:p>
            <a:pPr marR="0" lvl="0"/>
            <a:r>
              <a:rPr lang="en-US" sz="2000" b="0" i="0" u="none" strike="noStrike" baseline="0" dirty="0"/>
              <a:t>Create charts</a:t>
            </a:r>
          </a:p>
          <a:p>
            <a:pPr marR="0" lvl="0"/>
            <a:r>
              <a:rPr lang="en-US" sz="2000" b="0" i="0" u="none" strike="noStrike" baseline="0" dirty="0"/>
              <a:t>Prepare reports</a:t>
            </a:r>
          </a:p>
          <a:p>
            <a:pPr marR="0" lvl="0"/>
            <a:r>
              <a:rPr lang="en-US" sz="2000" b="1" i="0" u="none" strike="noStrike" baseline="0" dirty="0"/>
              <a:t>In Simple Words</a:t>
            </a:r>
          </a:p>
          <a:p>
            <a:pPr marR="0" lvl="0"/>
            <a:r>
              <a:rPr lang="en-US" sz="2000" b="1" i="0" u="none" strike="noStrike" baseline="0" dirty="0"/>
              <a:t>Excel helps us organize data and turn it into useful information.</a:t>
            </a:r>
            <a:endParaRPr lang="en-US" sz="2000" b="0" i="0" u="none" strike="noStrike" baseline="0" dirty="0"/>
          </a:p>
        </p:txBody>
      </p:sp>
    </p:spTree>
    <p:extLst>
      <p:ext uri="{BB962C8B-B14F-4D97-AF65-F5344CB8AC3E}">
        <p14:creationId xmlns:p14="http://schemas.microsoft.com/office/powerpoint/2010/main" val="1116519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8D729F-141A-8E9A-4459-F25EEDDF9D1D}"/>
              </a:ext>
            </a:extLst>
          </p:cNvPr>
          <p:cNvSpPr txBox="1"/>
          <p:nvPr/>
        </p:nvSpPr>
        <p:spPr>
          <a:xfrm>
            <a:off x="842772" y="331274"/>
            <a:ext cx="10506456" cy="71092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 spc="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Excel Step 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D5E4DE7-F365-3179-FCAE-F07E600CBE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3724822"/>
              </p:ext>
            </p:extLst>
          </p:nvPr>
        </p:nvGraphicFramePr>
        <p:xfrm>
          <a:off x="622569" y="1225899"/>
          <a:ext cx="10822503" cy="53008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15190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33249-E0CE-E374-8EB0-461C57779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75" y="647700"/>
            <a:ext cx="2835554" cy="55578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3600" b="1" i="0" u="none" strike="noStrike" baseline="0" dirty="0"/>
              <a:t>Where Do We Use Excel?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BDBC1-07A0-13DF-E932-C6C95BD4D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01556" y="647699"/>
            <a:ext cx="5029743" cy="60545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000" b="1" i="0" u="none" strike="noStrike" baseline="0" dirty="0"/>
              <a:t>Excel in Real Life</a:t>
            </a:r>
          </a:p>
          <a:p>
            <a:pPr marR="0" lvl="0"/>
            <a:r>
              <a:rPr lang="en-US" sz="2000" b="0" i="0" u="none" strike="noStrike" baseline="0" dirty="0"/>
              <a:t>Excel is used in many daily and professional activities.</a:t>
            </a:r>
          </a:p>
          <a:p>
            <a:pPr marR="0" lvl="0"/>
            <a:r>
              <a:rPr lang="en-US" sz="2000" b="1" i="0" u="none" strike="noStrike" baseline="0" dirty="0"/>
              <a:t>Examples</a:t>
            </a:r>
          </a:p>
          <a:p>
            <a:pPr marR="0" lvl="0"/>
            <a:r>
              <a:rPr lang="en-US" sz="2000" b="0" i="0" u="none" strike="noStrike" baseline="0" dirty="0"/>
              <a:t>Student marksheets</a:t>
            </a:r>
          </a:p>
          <a:p>
            <a:pPr marR="0" lvl="0"/>
            <a:r>
              <a:rPr lang="en-US" sz="2000" b="0" i="0" u="none" strike="noStrike" baseline="0" dirty="0"/>
              <a:t>Monthly budgets</a:t>
            </a:r>
          </a:p>
          <a:p>
            <a:pPr marR="0" lvl="0"/>
            <a:r>
              <a:rPr lang="en-US" sz="2000" b="0" i="0" u="none" strike="noStrike" baseline="0" dirty="0"/>
              <a:t>Sales reports</a:t>
            </a:r>
          </a:p>
          <a:p>
            <a:pPr marR="0" lvl="0"/>
            <a:r>
              <a:rPr lang="en-US" sz="2000" b="0" i="0" u="none" strike="noStrike" baseline="0" dirty="0"/>
              <a:t>Attendance records</a:t>
            </a:r>
          </a:p>
          <a:p>
            <a:pPr marR="0" lvl="0"/>
            <a:r>
              <a:rPr lang="en-US" sz="2000" b="0" i="0" u="none" strike="noStrike" baseline="0" dirty="0"/>
              <a:t>Employee details</a:t>
            </a:r>
          </a:p>
          <a:p>
            <a:pPr marR="0" lvl="0"/>
            <a:r>
              <a:rPr lang="en-US" sz="2000" b="0" i="0" u="none" strike="noStrike" baseline="0" dirty="0"/>
              <a:t>Business reports</a:t>
            </a:r>
          </a:p>
          <a:p>
            <a:pPr marR="0" lvl="0"/>
            <a:r>
              <a:rPr lang="en-US" sz="2000" b="0" i="0" u="none" strike="noStrike" baseline="0" dirty="0"/>
              <a:t>Expense tracking</a:t>
            </a:r>
          </a:p>
          <a:p>
            <a:pPr marR="0" lvl="0"/>
            <a:r>
              <a:rPr lang="en-US" sz="2000" b="0" i="0" u="none" strike="noStrike" baseline="0" dirty="0"/>
              <a:t>Inventory records</a:t>
            </a:r>
          </a:p>
          <a:p>
            <a:pPr marR="0" lvl="0"/>
            <a:r>
              <a:rPr lang="en-US" sz="2000" b="1" i="0" u="none" strike="noStrike" baseline="0" dirty="0"/>
              <a:t>Simple Example</a:t>
            </a:r>
          </a:p>
          <a:p>
            <a:pPr marR="0" lvl="0"/>
            <a:r>
              <a:rPr lang="en-US" sz="2000" b="1" i="0" u="none" strike="noStrike" baseline="0" dirty="0"/>
              <a:t>Raw Sales Data → Excel Analysis → Business Report</a:t>
            </a:r>
            <a:endParaRPr lang="en-US" sz="2000" b="0" i="0" u="none" strike="noStrike" baseline="0" dirty="0"/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15157426-BAD3-33B4-75C4-89D8934121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451" r="19201" b="-2"/>
          <a:stretch>
            <a:fillRect/>
          </a:stretch>
        </p:blipFill>
        <p:spPr>
          <a:xfrm>
            <a:off x="7431299" y="1"/>
            <a:ext cx="4760702" cy="6856413"/>
          </a:xfrm>
          <a:custGeom>
            <a:avLst/>
            <a:gdLst/>
            <a:ahLst/>
            <a:cxnLst/>
            <a:rect l="l" t="t" r="r" b="b"/>
            <a:pathLst>
              <a:path w="4760702" h="6856413">
                <a:moveTo>
                  <a:pt x="0" y="0"/>
                </a:moveTo>
                <a:lnTo>
                  <a:pt x="4760702" y="0"/>
                </a:lnTo>
                <a:lnTo>
                  <a:pt x="4760702" y="6856413"/>
                </a:lnTo>
                <a:lnTo>
                  <a:pt x="168269" y="6856413"/>
                </a:lnTo>
                <a:lnTo>
                  <a:pt x="228520" y="6494592"/>
                </a:lnTo>
                <a:cubicBezTo>
                  <a:pt x="521784" y="4449343"/>
                  <a:pt x="126947" y="2404092"/>
                  <a:pt x="14408" y="35884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65306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6AA27D-40E2-49FB-6411-7DD4370C4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00" y="465628"/>
            <a:ext cx="6095996" cy="6899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i="0" u="none" strike="noStrike" baseline="0" dirty="0"/>
              <a:t>Why Learn Excel?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9A6D4-0F0F-A9EC-7204-357AF0CDC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00" y="1166446"/>
            <a:ext cx="5715097" cy="5073633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R="0" lvl="0"/>
            <a:r>
              <a:rPr lang="en-US" sz="2400" b="1" i="0" u="none" strike="noStrike" baseline="0" dirty="0"/>
              <a:t>Why is Excel an Important Skill?</a:t>
            </a:r>
          </a:p>
          <a:p>
            <a:pPr marR="0" lvl="0"/>
            <a:r>
              <a:rPr lang="en-US" sz="2400" b="0" i="0" u="none" strike="noStrike" baseline="0" dirty="0"/>
              <a:t>Excel is important because data is everywhere.</a:t>
            </a:r>
          </a:p>
          <a:p>
            <a:pPr marR="0" lvl="0"/>
            <a:r>
              <a:rPr lang="en-US" sz="2400" b="0" i="0" u="none" strike="noStrike" baseline="0" dirty="0"/>
              <a:t>Students and professionals need to:</a:t>
            </a:r>
          </a:p>
          <a:p>
            <a:pPr marR="0" lvl="0"/>
            <a:r>
              <a:rPr lang="en-US" sz="2400" b="0" i="0" u="none" strike="noStrike" baseline="0" dirty="0"/>
              <a:t>Understand numbers</a:t>
            </a:r>
          </a:p>
          <a:p>
            <a:pPr marR="0" lvl="0"/>
            <a:r>
              <a:rPr lang="en-US" sz="2400" b="0" i="0" u="none" strike="noStrike" baseline="0" dirty="0"/>
              <a:t>Manage information</a:t>
            </a:r>
          </a:p>
          <a:p>
            <a:pPr marR="0" lvl="0"/>
            <a:r>
              <a:rPr lang="en-US" sz="2400" b="0" i="0" u="none" strike="noStrike" baseline="0" dirty="0"/>
              <a:t>Analyze performance</a:t>
            </a:r>
          </a:p>
          <a:p>
            <a:pPr marR="0" lvl="0"/>
            <a:r>
              <a:rPr lang="en-US" sz="2400" b="0" i="0" u="none" strike="noStrike" baseline="0" dirty="0"/>
              <a:t>Create reports</a:t>
            </a:r>
          </a:p>
          <a:p>
            <a:pPr marR="0" lvl="0"/>
            <a:r>
              <a:rPr lang="en-US" sz="2400" b="0" i="0" u="none" strike="noStrike" baseline="0" dirty="0"/>
              <a:t>Support decisions</a:t>
            </a:r>
          </a:p>
          <a:p>
            <a:pPr marR="0" lvl="0"/>
            <a:r>
              <a:rPr lang="en-US" sz="2400" b="1" i="0" u="none" strike="noStrike" baseline="0" dirty="0"/>
              <a:t>Key Message</a:t>
            </a:r>
          </a:p>
          <a:p>
            <a:pPr marR="0" lvl="0"/>
            <a:r>
              <a:rPr lang="en-US" sz="2400" b="1" i="0" u="none" strike="noStrike" baseline="0" dirty="0"/>
              <a:t>Excel is a practical skill that is useful in both education and professional life.</a:t>
            </a:r>
            <a:endParaRPr lang="en-US" sz="2400" b="0" i="0" u="none" strike="noStrike" baseline="0" dirty="0"/>
          </a:p>
        </p:txBody>
      </p:sp>
      <p:pic>
        <p:nvPicPr>
          <p:cNvPr id="5" name="Picture 4" descr="Sticky notes on a wall">
            <a:extLst>
              <a:ext uri="{FF2B5EF4-FFF2-40B4-BE49-F238E27FC236}">
                <a16:creationId xmlns:a16="http://schemas.microsoft.com/office/drawing/2014/main" id="{15FD071C-8A00-4F2F-4635-1FBD46409B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86" r="23049" b="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3625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8497FD-F897-4FF1-C144-C34DF6C021A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904D91-1479-1F13-D464-3B4041AE1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23" y="510957"/>
            <a:ext cx="3200400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baseline="0" dirty="0">
                <a:ln w="22225">
                  <a:solidFill>
                    <a:srgbClr val="FFFFFF"/>
                  </a:solidFill>
                </a:ln>
                <a:solidFill>
                  <a:srgbClr val="FFFFFF"/>
                </a:solidFill>
              </a:rPr>
              <a:t>Excel Generations</a:t>
            </a: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26179-E7DB-C6F0-4A79-F2FB2EA7C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7698" y="319088"/>
            <a:ext cx="8239648" cy="64334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1800" b="1" i="0" u="none" strike="noStrike" baseline="0" dirty="0">
                <a:solidFill>
                  <a:srgbClr val="FFFFFF"/>
                </a:solidFill>
              </a:rPr>
              <a:t>The Evolution of Excel</a:t>
            </a:r>
          </a:p>
          <a:p>
            <a:pPr marR="0" lvl="0"/>
            <a:r>
              <a:rPr lang="en-US" sz="1800" b="0" i="0" u="none" strike="noStrike" baseline="0" dirty="0">
                <a:solidFill>
                  <a:srgbClr val="FFFFFF"/>
                </a:solidFill>
              </a:rPr>
              <a:t>Excel has changed from a simple calculation tool into a powerful data tool.</a:t>
            </a:r>
          </a:p>
          <a:p>
            <a:pPr marR="0" lvl="0"/>
            <a:r>
              <a:rPr lang="en-US" sz="1800" b="1" i="0" u="none" strike="noStrike" baseline="0" dirty="0">
                <a:solidFill>
                  <a:srgbClr val="FFFFFF"/>
                </a:solidFill>
              </a:rPr>
              <a:t>Generation 1 – Spreadsheet Era</a:t>
            </a:r>
          </a:p>
          <a:p>
            <a:pPr marR="0" lvl="0"/>
            <a:r>
              <a:rPr lang="en-US" sz="1800" b="0" i="0" u="none" strike="noStrike" baseline="0" dirty="0">
                <a:solidFill>
                  <a:srgbClr val="FFFFFF"/>
                </a:solidFill>
              </a:rPr>
              <a:t>Basic tables and calculations.</a:t>
            </a:r>
          </a:p>
          <a:p>
            <a:pPr marR="0" lvl="0"/>
            <a:r>
              <a:rPr lang="en-US" sz="1800" b="1" i="0" u="none" strike="noStrike" baseline="0" dirty="0">
                <a:solidFill>
                  <a:srgbClr val="FFFFFF"/>
                </a:solidFill>
              </a:rPr>
              <a:t>Generation 2 – Office Productivity Era</a:t>
            </a:r>
          </a:p>
          <a:p>
            <a:pPr marR="0" lvl="0"/>
            <a:r>
              <a:rPr lang="en-US" sz="1800" b="0" i="0" u="none" strike="noStrike" baseline="0" dirty="0">
                <a:solidFill>
                  <a:srgbClr val="FFFFFF"/>
                </a:solidFill>
              </a:rPr>
              <a:t>Formatting, charts, and business reports.</a:t>
            </a:r>
          </a:p>
          <a:p>
            <a:pPr marR="0" lvl="0"/>
            <a:r>
              <a:rPr lang="en-US" sz="1800" b="1" i="0" u="none" strike="noStrike" baseline="0" dirty="0">
                <a:solidFill>
                  <a:srgbClr val="FFFFFF"/>
                </a:solidFill>
              </a:rPr>
              <a:t>Generation 3 – Data Analysis Era</a:t>
            </a:r>
          </a:p>
          <a:p>
            <a:pPr marR="0" lvl="0"/>
            <a:r>
              <a:rPr lang="en-US" sz="1800" b="0" i="0" u="none" strike="noStrike" baseline="0" dirty="0">
                <a:solidFill>
                  <a:srgbClr val="FFFFFF"/>
                </a:solidFill>
              </a:rPr>
              <a:t>Advanced formulas and PivotTables.</a:t>
            </a:r>
          </a:p>
          <a:p>
            <a:pPr marR="0" lvl="0"/>
            <a:r>
              <a:rPr lang="en-US" sz="1800" b="1" i="0" u="none" strike="noStrike" baseline="0" dirty="0">
                <a:solidFill>
                  <a:srgbClr val="FFFFFF"/>
                </a:solidFill>
              </a:rPr>
              <a:t>Generation 4 – Automation Era</a:t>
            </a:r>
          </a:p>
          <a:p>
            <a:pPr marR="0" lvl="0"/>
            <a:r>
              <a:rPr lang="en-US" sz="1800" b="0" i="0" u="none" strike="noStrike" baseline="0" dirty="0">
                <a:solidFill>
                  <a:srgbClr val="FFFFFF"/>
                </a:solidFill>
              </a:rPr>
              <a:t>Power Query and advanced data tools.</a:t>
            </a:r>
          </a:p>
          <a:p>
            <a:pPr marR="0" lvl="0"/>
            <a:r>
              <a:rPr lang="en-US" sz="1800" b="1" i="0" u="none" strike="noStrike" baseline="0" dirty="0">
                <a:solidFill>
                  <a:srgbClr val="FFFFFF"/>
                </a:solidFill>
              </a:rPr>
              <a:t>Generation 5 – Modern Excel Era</a:t>
            </a:r>
          </a:p>
          <a:p>
            <a:pPr marR="0" lvl="0"/>
            <a:r>
              <a:rPr lang="en-US" sz="1800" b="0" i="0" u="none" strike="noStrike" baseline="0" dirty="0">
                <a:solidFill>
                  <a:srgbClr val="FFFFFF"/>
                </a:solidFill>
              </a:rPr>
              <a:t>Cloud collaboration, dynamic functions, and AI-supported features.</a:t>
            </a:r>
          </a:p>
          <a:p>
            <a:pPr marR="0" lvl="0"/>
            <a:r>
              <a:rPr lang="en-US" sz="1800" b="1" i="0" u="none" strike="noStrike" baseline="0" dirty="0">
                <a:solidFill>
                  <a:srgbClr val="FFFFFF"/>
                </a:solidFill>
              </a:rPr>
              <a:t>Slide 6 – Excel Timeline</a:t>
            </a:r>
          </a:p>
          <a:p>
            <a:pPr marR="0" lvl="0"/>
            <a:r>
              <a:rPr lang="en-US" sz="1800" b="1" i="0" u="none" strike="noStrike" baseline="0" dirty="0">
                <a:solidFill>
                  <a:srgbClr val="FFFFFF"/>
                </a:solidFill>
              </a:rPr>
              <a:t>Today</a:t>
            </a:r>
          </a:p>
          <a:p>
            <a:pPr marR="0" lvl="0"/>
            <a:r>
              <a:rPr lang="en-US" sz="1800" b="0" i="0" u="none" strike="noStrike" baseline="0" dirty="0">
                <a:solidFill>
                  <a:srgbClr val="FFFFFF"/>
                </a:solidFill>
              </a:rPr>
              <a:t>Excel supports modern analysis, collaboration, automation, and AI-powered productivity.</a:t>
            </a:r>
          </a:p>
        </p:txBody>
      </p:sp>
    </p:spTree>
    <p:extLst>
      <p:ext uri="{BB962C8B-B14F-4D97-AF65-F5344CB8AC3E}">
        <p14:creationId xmlns:p14="http://schemas.microsoft.com/office/powerpoint/2010/main" val="1611402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enerated image">
            <a:extLst>
              <a:ext uri="{FF2B5EF4-FFF2-40B4-BE49-F238E27FC236}">
                <a16:creationId xmlns:a16="http://schemas.microsoft.com/office/drawing/2014/main" id="{8CA8F06D-4ED6-FB7F-4257-C422392F1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929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8498C-0A62-F80A-A236-AB7A55E43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4" y="647700"/>
            <a:ext cx="2835554" cy="55578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3600" b="1" i="0" u="none" strike="noStrike" baseline="0"/>
              <a:t>EXCEL BASICS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7658C-E0BB-A0EF-4341-F34D29808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2813" y="647700"/>
            <a:ext cx="5697416" cy="5557838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R="0" lvl="0"/>
            <a:r>
              <a:rPr lang="en-US" sz="1800" b="1" i="0" u="none" strike="noStrike" baseline="0" dirty="0"/>
              <a:t>Slide 7 – Understanding the Excel Workspace</a:t>
            </a:r>
          </a:p>
          <a:p>
            <a:pPr marR="0" lvl="0"/>
            <a:r>
              <a:rPr lang="en-US" sz="1800" b="1" i="0" u="none" strike="noStrike" baseline="0" dirty="0"/>
              <a:t>Main Parts of Excel</a:t>
            </a:r>
          </a:p>
          <a:p>
            <a:pPr marR="0" lvl="0"/>
            <a:r>
              <a:rPr lang="en-US" sz="1800" b="0" i="0" u="none" strike="noStrike" baseline="0" dirty="0"/>
              <a:t>Workbook</a:t>
            </a:r>
          </a:p>
          <a:p>
            <a:pPr marR="0" lvl="0"/>
            <a:r>
              <a:rPr lang="en-US" sz="1800" b="0" i="0" u="none" strike="noStrike" baseline="0" dirty="0"/>
              <a:t>Worksheet</a:t>
            </a:r>
          </a:p>
          <a:p>
            <a:pPr marR="0" lvl="0"/>
            <a:r>
              <a:rPr lang="en-US" sz="1800" b="0" i="0" u="none" strike="noStrike" baseline="0" dirty="0"/>
              <a:t>Rows</a:t>
            </a:r>
          </a:p>
          <a:p>
            <a:pPr marR="0" lvl="0"/>
            <a:r>
              <a:rPr lang="en-US" sz="1800" b="0" i="0" u="none" strike="noStrike" baseline="0" dirty="0"/>
              <a:t>Columns</a:t>
            </a:r>
          </a:p>
          <a:p>
            <a:pPr marR="0" lvl="0"/>
            <a:r>
              <a:rPr lang="en-US" sz="1800" b="0" i="0" u="none" strike="noStrike" baseline="0" dirty="0"/>
              <a:t>Cells</a:t>
            </a:r>
          </a:p>
          <a:p>
            <a:pPr marR="0" lvl="0"/>
            <a:r>
              <a:rPr lang="en-US" sz="1800" b="0" i="0" u="none" strike="noStrike" baseline="0" dirty="0"/>
              <a:t>Cell Address</a:t>
            </a:r>
          </a:p>
          <a:p>
            <a:pPr marR="0" lvl="0"/>
            <a:r>
              <a:rPr lang="en-US" sz="1800" b="0" i="0" u="none" strike="noStrike" baseline="0" dirty="0"/>
              <a:t>Ribbon</a:t>
            </a:r>
          </a:p>
          <a:p>
            <a:pPr marR="0" lvl="0"/>
            <a:r>
              <a:rPr lang="en-US" sz="1800" b="0" i="0" u="none" strike="noStrike" baseline="0" dirty="0"/>
              <a:t>Formula Bar</a:t>
            </a:r>
          </a:p>
          <a:p>
            <a:pPr marR="0" lvl="0"/>
            <a:r>
              <a:rPr lang="en-US" sz="1800" b="0" i="0" u="none" strike="noStrike" baseline="0" dirty="0"/>
              <a:t>Name Box</a:t>
            </a:r>
          </a:p>
          <a:p>
            <a:pPr marR="0" lvl="0"/>
            <a:r>
              <a:rPr lang="en-US" sz="1800" b="0" i="0" u="none" strike="noStrike" baseline="0" dirty="0"/>
              <a:t>Sheet Tabs</a:t>
            </a:r>
          </a:p>
          <a:p>
            <a:pPr marR="0" lvl="0"/>
            <a:r>
              <a:rPr lang="en-US" sz="1800" b="1" i="0" u="none" strike="noStrike" baseline="0" dirty="0"/>
              <a:t>Example</a:t>
            </a:r>
          </a:p>
          <a:p>
            <a:pPr marR="0" lvl="0"/>
            <a:r>
              <a:rPr lang="en-US" sz="1800" b="1" i="0" u="none" strike="noStrike" baseline="0" dirty="0"/>
              <a:t>Cell B5</a:t>
            </a:r>
          </a:p>
          <a:p>
            <a:pPr marR="0" lvl="0"/>
            <a:r>
              <a:rPr lang="en-US" sz="1800" b="0" i="0" u="none" strike="noStrike" baseline="0" dirty="0"/>
              <a:t>B = Column</a:t>
            </a:r>
            <a:br>
              <a:rPr lang="en-US" sz="1800" b="0" i="0" u="none" strike="noStrike" baseline="0" dirty="0"/>
            </a:br>
            <a:r>
              <a:rPr lang="en-US" sz="1800" b="0" i="0" u="none" strike="noStrike" baseline="0" dirty="0"/>
              <a:t>5 = Row</a:t>
            </a:r>
          </a:p>
        </p:txBody>
      </p:sp>
      <p:pic>
        <p:nvPicPr>
          <p:cNvPr id="5" name="Picture 4" descr="Periodic table of elements">
            <a:extLst>
              <a:ext uri="{FF2B5EF4-FFF2-40B4-BE49-F238E27FC236}">
                <a16:creationId xmlns:a16="http://schemas.microsoft.com/office/drawing/2014/main" id="{32F9FF69-0DA3-AB1D-4449-212F2F7E7C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03" r="25823"/>
          <a:stretch>
            <a:fillRect/>
          </a:stretch>
        </p:blipFill>
        <p:spPr>
          <a:xfrm>
            <a:off x="7431299" y="1"/>
            <a:ext cx="4760702" cy="6856413"/>
          </a:xfrm>
          <a:custGeom>
            <a:avLst/>
            <a:gdLst/>
            <a:ahLst/>
            <a:cxnLst/>
            <a:rect l="l" t="t" r="r" b="b"/>
            <a:pathLst>
              <a:path w="4760702" h="6856413">
                <a:moveTo>
                  <a:pt x="0" y="0"/>
                </a:moveTo>
                <a:lnTo>
                  <a:pt x="4760702" y="0"/>
                </a:lnTo>
                <a:lnTo>
                  <a:pt x="4760702" y="6856413"/>
                </a:lnTo>
                <a:lnTo>
                  <a:pt x="168269" y="6856413"/>
                </a:lnTo>
                <a:lnTo>
                  <a:pt x="228520" y="6494592"/>
                </a:lnTo>
                <a:cubicBezTo>
                  <a:pt x="521784" y="4449343"/>
                  <a:pt x="126947" y="2404092"/>
                  <a:pt x="14408" y="35884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34134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Picture 21" descr="A person reaching for a paper on a table full of paper and sticky notes">
            <a:extLst>
              <a:ext uri="{FF2B5EF4-FFF2-40B4-BE49-F238E27FC236}">
                <a16:creationId xmlns:a16="http://schemas.microsoft.com/office/drawing/2014/main" id="{BF209447-C492-BBB5-8641-1E86CD0E79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8913" b="6817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809A85-30F7-9A46-AF88-4812BE983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795" y="557189"/>
            <a:ext cx="3231383" cy="55718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baseline="0" dirty="0">
                <a:solidFill>
                  <a:srgbClr val="FFFFFF"/>
                </a:solidFill>
              </a:rPr>
              <a:t>Basic Excel Skills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CDF17-46C5-9851-3388-A28FFA2D0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81459" y="376318"/>
            <a:ext cx="6525838" cy="63862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000" b="1" i="0" u="none" strike="noStrike" baseline="0" dirty="0">
                <a:solidFill>
                  <a:srgbClr val="FFFFFF"/>
                </a:solidFill>
              </a:rPr>
              <a:t>Basic Level Skills</a:t>
            </a:r>
          </a:p>
          <a:p>
            <a:pPr marR="0" lvl="0"/>
            <a:r>
              <a:rPr lang="en-US" sz="2000" b="0" i="0" u="none" strike="noStrike" baseline="0" dirty="0">
                <a:solidFill>
                  <a:srgbClr val="FFFFFF"/>
                </a:solidFill>
              </a:rPr>
              <a:t>At the beginner level, students learn how to work confidently with spreadsheets.</a:t>
            </a:r>
          </a:p>
          <a:p>
            <a:pPr marR="0" lvl="0"/>
            <a:r>
              <a:rPr lang="en-US" sz="2000" b="1" i="0" u="none" strike="noStrike" baseline="0" dirty="0">
                <a:solidFill>
                  <a:srgbClr val="FFFFFF"/>
                </a:solidFill>
              </a:rPr>
              <a:t>Main Skills</a:t>
            </a:r>
          </a:p>
          <a:p>
            <a:pPr marR="0" lvl="0"/>
            <a:r>
              <a:rPr lang="en-US" sz="2000" b="0" i="0" u="none" strike="noStrike" baseline="0" dirty="0">
                <a:solidFill>
                  <a:srgbClr val="FFFFFF"/>
                </a:solidFill>
              </a:rPr>
              <a:t>Data entry</a:t>
            </a:r>
          </a:p>
          <a:p>
            <a:pPr marR="0" lvl="0"/>
            <a:r>
              <a:rPr lang="en-US" sz="2000" b="0" i="0" u="none" strike="noStrike" baseline="0" dirty="0">
                <a:solidFill>
                  <a:srgbClr val="FFFFFF"/>
                </a:solidFill>
              </a:rPr>
              <a:t>Editing data</a:t>
            </a:r>
          </a:p>
          <a:p>
            <a:pPr marR="0" lvl="0"/>
            <a:r>
              <a:rPr lang="en-US" sz="2000" b="0" i="0" u="none" strike="noStrike" baseline="0" dirty="0">
                <a:solidFill>
                  <a:srgbClr val="FFFFFF"/>
                </a:solidFill>
              </a:rPr>
              <a:t>Cell formatting</a:t>
            </a:r>
          </a:p>
          <a:p>
            <a:pPr marR="0" lvl="0"/>
            <a:r>
              <a:rPr lang="en-US" sz="2000" b="0" i="0" u="none" strike="noStrike" baseline="0" dirty="0">
                <a:solidFill>
                  <a:srgbClr val="FFFFFF"/>
                </a:solidFill>
              </a:rPr>
              <a:t>Working with rows and columns</a:t>
            </a:r>
          </a:p>
          <a:p>
            <a:pPr marR="0" lvl="0"/>
            <a:r>
              <a:rPr lang="en-US" sz="2000" b="0" i="0" u="none" strike="noStrike" baseline="0" dirty="0">
                <a:solidFill>
                  <a:srgbClr val="FFFFFF"/>
                </a:solidFill>
              </a:rPr>
              <a:t>Creating worksheets</a:t>
            </a:r>
          </a:p>
          <a:p>
            <a:pPr marR="0" lvl="0"/>
            <a:r>
              <a:rPr lang="en-US" sz="2000" b="0" i="0" u="none" strike="noStrike" baseline="0" dirty="0">
                <a:solidFill>
                  <a:srgbClr val="FFFFFF"/>
                </a:solidFill>
              </a:rPr>
              <a:t>Copy and paste</a:t>
            </a:r>
          </a:p>
          <a:p>
            <a:pPr marR="0" lvl="0"/>
            <a:r>
              <a:rPr lang="en-US" sz="2000" b="0" i="0" u="none" strike="noStrike" baseline="0" dirty="0">
                <a:solidFill>
                  <a:srgbClr val="FFFFFF"/>
                </a:solidFill>
              </a:rPr>
              <a:t>AutoFill</a:t>
            </a:r>
          </a:p>
          <a:p>
            <a:pPr marR="0" lvl="0"/>
            <a:r>
              <a:rPr lang="en-US" sz="2000" b="0" i="0" u="none" strike="noStrike" baseline="0" dirty="0">
                <a:solidFill>
                  <a:srgbClr val="FFFFFF"/>
                </a:solidFill>
              </a:rPr>
              <a:t>Find and Replace</a:t>
            </a:r>
          </a:p>
          <a:p>
            <a:pPr marR="0" lvl="0"/>
            <a:r>
              <a:rPr lang="en-US" sz="2000" b="0" i="0" u="none" strike="noStrike" baseline="0" dirty="0">
                <a:solidFill>
                  <a:srgbClr val="FFFFFF"/>
                </a:solidFill>
              </a:rPr>
              <a:t>Sorting</a:t>
            </a:r>
          </a:p>
          <a:p>
            <a:pPr marR="0" lvl="0"/>
            <a:r>
              <a:rPr lang="en-US" sz="2000" b="0" i="0" u="none" strike="noStrike" baseline="0" dirty="0">
                <a:solidFill>
                  <a:srgbClr val="FFFFFF"/>
                </a:solidFill>
              </a:rPr>
              <a:t>Filtering</a:t>
            </a:r>
          </a:p>
          <a:p>
            <a:pPr marR="0" lvl="0"/>
            <a:r>
              <a:rPr lang="en-US" sz="2000" b="0" i="0" u="none" strike="noStrike" baseline="0" dirty="0">
                <a:solidFill>
                  <a:srgbClr val="FFFFFF"/>
                </a:solidFill>
              </a:rPr>
              <a:t>Printing</a:t>
            </a:r>
          </a:p>
        </p:txBody>
      </p:sp>
    </p:spTree>
    <p:extLst>
      <p:ext uri="{BB962C8B-B14F-4D97-AF65-F5344CB8AC3E}">
        <p14:creationId xmlns:p14="http://schemas.microsoft.com/office/powerpoint/2010/main" val="1315121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3BF0DA-ED42-9D16-79FC-48FE62B04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kern="1200" spc="3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EXCEL DASHBOARD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0E96EA-A1F7-0F95-2A92-AC570067CBE4}"/>
              </a:ext>
            </a:extLst>
          </p:cNvPr>
          <p:cNvSpPr txBox="1"/>
          <p:nvPr/>
        </p:nvSpPr>
        <p:spPr>
          <a:xfrm>
            <a:off x="638881" y="1809541"/>
            <a:ext cx="10909643" cy="687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  <a:hlinkClick r:id="rId2" action="ppaction://hlinkfile"/>
              </a:rPr>
              <a:t>D:\Dashboard.xlsx</a:t>
            </a:r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close-up of a graph&#10;&#10;AI-generated content may be incorrect.">
            <a:extLst>
              <a:ext uri="{FF2B5EF4-FFF2-40B4-BE49-F238E27FC236}">
                <a16:creationId xmlns:a16="http://schemas.microsoft.com/office/drawing/2014/main" id="{1C078626-BF2C-03B4-FAAE-A30DCF1A6C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448" y="2371412"/>
            <a:ext cx="10174055" cy="427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17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86518-9E75-136A-79F3-4C34C0FCF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28" y="476878"/>
            <a:ext cx="2835554" cy="55578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3600" b="1" i="0" u="none" strike="noStrike" baseline="0" dirty="0"/>
              <a:t>From Raw Data to 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E0109-CEA3-3D15-0396-66901CEA3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2620" y="176981"/>
            <a:ext cx="4633844" cy="66794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>
              <a:lnSpc>
                <a:spcPct val="100000"/>
              </a:lnSpc>
              <a:buNone/>
            </a:pPr>
            <a:r>
              <a:rPr lang="en-US" sz="1600" b="1" i="0" u="none" strike="noStrike" baseline="0" dirty="0"/>
              <a:t>The Excel Analysis Process</a:t>
            </a:r>
          </a:p>
          <a:p>
            <a:pPr marL="0" marR="0" lvl="0" indent="0" algn="ctr">
              <a:lnSpc>
                <a:spcPct val="100000"/>
              </a:lnSpc>
              <a:buNone/>
            </a:pPr>
            <a:r>
              <a:rPr lang="en-US" sz="1600" b="1" i="0" u="none" strike="noStrike" baseline="0" dirty="0"/>
              <a:t>Step 1</a:t>
            </a:r>
          </a:p>
          <a:p>
            <a:pPr marL="0" marR="0" lvl="0" indent="0" algn="ctr">
              <a:lnSpc>
                <a:spcPct val="100000"/>
              </a:lnSpc>
              <a:buNone/>
            </a:pPr>
            <a:r>
              <a:rPr lang="en-US" sz="1600" b="0" i="0" u="none" strike="noStrike" baseline="0" dirty="0"/>
              <a:t>Collect Data</a:t>
            </a:r>
          </a:p>
          <a:p>
            <a:pPr marL="0" marR="0" lvl="0" indent="0" algn="ctr">
              <a:lnSpc>
                <a:spcPct val="100000"/>
              </a:lnSpc>
              <a:buNone/>
            </a:pPr>
            <a:r>
              <a:rPr lang="en-US" sz="1600" b="0" i="0" u="none" strike="noStrike" baseline="0" dirty="0"/>
              <a:t>↓</a:t>
            </a:r>
          </a:p>
          <a:p>
            <a:pPr marL="0" marR="0" lvl="0" indent="0" algn="ctr">
              <a:lnSpc>
                <a:spcPct val="100000"/>
              </a:lnSpc>
              <a:buNone/>
            </a:pPr>
            <a:r>
              <a:rPr lang="en-US" sz="1600" b="1" i="0" u="none" strike="noStrike" baseline="0" dirty="0"/>
              <a:t>Step 2</a:t>
            </a:r>
          </a:p>
          <a:p>
            <a:pPr marL="0" marR="0" lvl="0" indent="0" algn="ctr">
              <a:lnSpc>
                <a:spcPct val="100000"/>
              </a:lnSpc>
              <a:buNone/>
            </a:pPr>
            <a:r>
              <a:rPr lang="en-US" sz="1600" b="0" i="0" u="none" strike="noStrike" baseline="0" dirty="0"/>
              <a:t>Clean Data</a:t>
            </a:r>
          </a:p>
          <a:p>
            <a:pPr marL="0" marR="0" lvl="0" indent="0" algn="ctr">
              <a:lnSpc>
                <a:spcPct val="100000"/>
              </a:lnSpc>
              <a:buNone/>
            </a:pPr>
            <a:r>
              <a:rPr lang="en-US" sz="1600" b="0" i="0" u="none" strike="noStrike" baseline="0" dirty="0"/>
              <a:t>↓</a:t>
            </a:r>
          </a:p>
          <a:p>
            <a:pPr marL="0" marR="0" lvl="0" indent="0" algn="ctr">
              <a:lnSpc>
                <a:spcPct val="100000"/>
              </a:lnSpc>
              <a:buNone/>
            </a:pPr>
            <a:r>
              <a:rPr lang="en-US" sz="1600" b="1" i="0" u="none" strike="noStrike" baseline="0" dirty="0"/>
              <a:t>Step 3</a:t>
            </a:r>
          </a:p>
          <a:p>
            <a:pPr marL="0" marR="0" lvl="0" indent="0" algn="ctr">
              <a:lnSpc>
                <a:spcPct val="100000"/>
              </a:lnSpc>
              <a:buNone/>
            </a:pPr>
            <a:r>
              <a:rPr lang="en-US" sz="1600" b="0" i="0" u="none" strike="noStrike" baseline="0" dirty="0"/>
              <a:t>Analyze Data</a:t>
            </a:r>
          </a:p>
          <a:p>
            <a:pPr marL="0" marR="0" lvl="0" indent="0" algn="ctr">
              <a:lnSpc>
                <a:spcPct val="100000"/>
              </a:lnSpc>
              <a:buNone/>
            </a:pPr>
            <a:r>
              <a:rPr lang="en-US" sz="1600" b="0" i="0" u="none" strike="noStrike" baseline="0" dirty="0"/>
              <a:t>↓</a:t>
            </a:r>
          </a:p>
          <a:p>
            <a:pPr marL="0" marR="0" lvl="0" indent="0" algn="ctr">
              <a:lnSpc>
                <a:spcPct val="100000"/>
              </a:lnSpc>
              <a:buNone/>
            </a:pPr>
            <a:r>
              <a:rPr lang="en-US" sz="1600" b="1" i="0" u="none" strike="noStrike" baseline="0" dirty="0"/>
              <a:t>Step 4</a:t>
            </a:r>
          </a:p>
          <a:p>
            <a:pPr marL="0" marR="0" lvl="0" indent="0" algn="ctr">
              <a:lnSpc>
                <a:spcPct val="100000"/>
              </a:lnSpc>
              <a:buNone/>
            </a:pPr>
            <a:r>
              <a:rPr lang="en-US" sz="1600" b="0" i="0" u="none" strike="noStrike" baseline="0" dirty="0"/>
              <a:t>Create Summary</a:t>
            </a:r>
          </a:p>
          <a:p>
            <a:pPr marL="0" marR="0" lvl="0" indent="0" algn="ctr">
              <a:lnSpc>
                <a:spcPct val="100000"/>
              </a:lnSpc>
              <a:buNone/>
            </a:pPr>
            <a:r>
              <a:rPr lang="en-US" sz="1600" b="0" i="0" u="none" strike="noStrike" baseline="0" dirty="0"/>
              <a:t>↓</a:t>
            </a:r>
          </a:p>
          <a:p>
            <a:pPr marL="0" marR="0" lvl="0" indent="0" algn="ctr">
              <a:lnSpc>
                <a:spcPct val="100000"/>
              </a:lnSpc>
              <a:buNone/>
            </a:pPr>
            <a:r>
              <a:rPr lang="en-US" sz="1600" b="1" i="0" u="none" strike="noStrike" baseline="0" dirty="0"/>
              <a:t>Step 5</a:t>
            </a:r>
          </a:p>
          <a:p>
            <a:pPr marL="0" marR="0" lvl="0" indent="0" algn="ctr">
              <a:lnSpc>
                <a:spcPct val="100000"/>
              </a:lnSpc>
              <a:buNone/>
            </a:pPr>
            <a:r>
              <a:rPr lang="en-US" sz="1600" b="0" i="0" u="none" strike="noStrike" baseline="0" dirty="0"/>
              <a:t>Build Charts</a:t>
            </a:r>
          </a:p>
          <a:p>
            <a:pPr marL="0" marR="0" lvl="0" indent="0" algn="ctr">
              <a:lnSpc>
                <a:spcPct val="100000"/>
              </a:lnSpc>
              <a:buNone/>
            </a:pPr>
            <a:r>
              <a:rPr lang="en-US" sz="1600" b="0" i="0" u="none" strike="noStrike" baseline="0" dirty="0"/>
              <a:t>↓</a:t>
            </a:r>
          </a:p>
          <a:p>
            <a:pPr marL="0" marR="0" lvl="0" indent="0" algn="ctr">
              <a:lnSpc>
                <a:spcPct val="100000"/>
              </a:lnSpc>
              <a:buNone/>
            </a:pPr>
            <a:r>
              <a:rPr lang="en-US" sz="1600" b="1" i="0" u="none" strike="noStrike" baseline="0" dirty="0"/>
              <a:t>Step 6</a:t>
            </a:r>
          </a:p>
          <a:p>
            <a:pPr marL="0" marR="0" lvl="0" indent="0" algn="ctr">
              <a:lnSpc>
                <a:spcPct val="100000"/>
              </a:lnSpc>
              <a:buNone/>
            </a:pPr>
            <a:r>
              <a:rPr lang="en-US" sz="1600" b="0" i="0" u="none" strike="noStrike" baseline="0" dirty="0"/>
              <a:t>Create Dashboard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BE5046DB-0B92-8BC5-B447-694991B152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66" r="33386" b="-2"/>
          <a:stretch>
            <a:fillRect/>
          </a:stretch>
        </p:blipFill>
        <p:spPr>
          <a:xfrm>
            <a:off x="7431299" y="1"/>
            <a:ext cx="4760702" cy="6856413"/>
          </a:xfrm>
          <a:custGeom>
            <a:avLst/>
            <a:gdLst/>
            <a:ahLst/>
            <a:cxnLst/>
            <a:rect l="l" t="t" r="r" b="b"/>
            <a:pathLst>
              <a:path w="4760702" h="6856413">
                <a:moveTo>
                  <a:pt x="0" y="0"/>
                </a:moveTo>
                <a:lnTo>
                  <a:pt x="4760702" y="0"/>
                </a:lnTo>
                <a:lnTo>
                  <a:pt x="4760702" y="6856413"/>
                </a:lnTo>
                <a:lnTo>
                  <a:pt x="168269" y="6856413"/>
                </a:lnTo>
                <a:lnTo>
                  <a:pt x="228520" y="6494592"/>
                </a:lnTo>
                <a:cubicBezTo>
                  <a:pt x="521784" y="4449343"/>
                  <a:pt x="126947" y="2404092"/>
                  <a:pt x="14408" y="35884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97688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9A37B-615E-244D-55DB-3883A7F36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11" y="685800"/>
            <a:ext cx="2835554" cy="55578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3600" b="1" i="0" u="none" strike="noStrike" baseline="0" dirty="0"/>
              <a:t>What Can You Create with Excel?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18AA7-387D-06AF-8443-FF06DF3FF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6155" y="647700"/>
            <a:ext cx="4275144" cy="58907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>
              <a:buNone/>
            </a:pPr>
            <a:r>
              <a:rPr lang="en-US" sz="2000" b="1" i="0" u="none" strike="noStrike" baseline="0" dirty="0"/>
              <a:t>Excel Output Examples</a:t>
            </a:r>
          </a:p>
          <a:p>
            <a:pPr marR="0" lvl="0">
              <a:buFont typeface="Wingdings" panose="05000000000000000000" pitchFamily="2" charset="2"/>
              <a:buChar char="Ø"/>
            </a:pPr>
            <a:r>
              <a:rPr lang="en-US" sz="2000" b="0" i="0" u="none" strike="noStrike" baseline="0" dirty="0"/>
              <a:t>Using Excel, you can create:</a:t>
            </a:r>
          </a:p>
          <a:p>
            <a:pPr marR="0" lvl="0"/>
            <a:r>
              <a:rPr lang="en-US" sz="2000" b="0" i="0" u="none" strike="noStrike" baseline="0" dirty="0"/>
              <a:t>Sales reports</a:t>
            </a:r>
          </a:p>
          <a:p>
            <a:pPr marR="0" lvl="0"/>
            <a:r>
              <a:rPr lang="en-US" sz="2000" b="0" i="0" u="none" strike="noStrike" baseline="0" dirty="0"/>
              <a:t>Student performance reports</a:t>
            </a:r>
          </a:p>
          <a:p>
            <a:pPr marR="0" lvl="0"/>
            <a:r>
              <a:rPr lang="en-US" sz="2000" b="0" i="0" u="none" strike="noStrike" baseline="0" dirty="0"/>
              <a:t>Budget reports</a:t>
            </a:r>
          </a:p>
          <a:p>
            <a:pPr marR="0" lvl="0"/>
            <a:r>
              <a:rPr lang="en-US" sz="2000" b="0" i="0" u="none" strike="noStrike" baseline="0" dirty="0"/>
              <a:t>Inventory reports</a:t>
            </a:r>
          </a:p>
          <a:p>
            <a:pPr marR="0" lvl="0"/>
            <a:r>
              <a:rPr lang="en-US" sz="2000" b="0" i="0" u="none" strike="noStrike" baseline="0" dirty="0"/>
              <a:t>HR reports</a:t>
            </a:r>
          </a:p>
          <a:p>
            <a:pPr marR="0" lvl="0"/>
            <a:r>
              <a:rPr lang="en-US" sz="2000" b="0" i="0" u="none" strike="noStrike" baseline="0" dirty="0"/>
              <a:t>Financial reports</a:t>
            </a:r>
          </a:p>
          <a:p>
            <a:pPr marR="0" lvl="0"/>
            <a:r>
              <a:rPr lang="en-US" sz="2000" b="0" i="0" u="none" strike="noStrike" baseline="0" dirty="0"/>
              <a:t>KPI reports</a:t>
            </a:r>
          </a:p>
          <a:p>
            <a:pPr marR="0" lvl="0"/>
            <a:r>
              <a:rPr lang="en-US" sz="2000" b="0" i="0" u="none" strike="noStrike" baseline="0" dirty="0"/>
              <a:t>Interactive dashboards</a:t>
            </a:r>
          </a:p>
          <a:p>
            <a:pPr marR="0" lvl="0">
              <a:buFont typeface="Wingdings" panose="05000000000000000000" pitchFamily="2" charset="2"/>
              <a:buChar char="Ø"/>
            </a:pPr>
            <a:r>
              <a:rPr lang="en-US" sz="2000" b="1" i="0" u="none" strike="noStrike" baseline="0" dirty="0"/>
              <a:t>Key Point</a:t>
            </a:r>
          </a:p>
          <a:p>
            <a:pPr marR="0" lvl="0"/>
            <a:r>
              <a:rPr lang="en-US" sz="2000" b="1" i="0" u="none" strike="noStrike" baseline="0" dirty="0"/>
              <a:t>Excel helps transform data into reports that are easier to understand</a:t>
            </a:r>
            <a:r>
              <a:rPr lang="en-US" sz="1800" b="1" i="0" u="none" strike="noStrike" baseline="0" dirty="0"/>
              <a:t>.</a:t>
            </a:r>
            <a:endParaRPr lang="en-US" sz="1800" b="0" i="0" u="none" strike="noStrike" baseline="0" dirty="0"/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B1099332-9A50-C670-80AD-65AD20BA81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451" r="19201" b="-2"/>
          <a:stretch>
            <a:fillRect/>
          </a:stretch>
        </p:blipFill>
        <p:spPr>
          <a:xfrm>
            <a:off x="7431299" y="1"/>
            <a:ext cx="4760702" cy="6856413"/>
          </a:xfrm>
          <a:custGeom>
            <a:avLst/>
            <a:gdLst/>
            <a:ahLst/>
            <a:cxnLst/>
            <a:rect l="l" t="t" r="r" b="b"/>
            <a:pathLst>
              <a:path w="4760702" h="6856413">
                <a:moveTo>
                  <a:pt x="0" y="0"/>
                </a:moveTo>
                <a:lnTo>
                  <a:pt x="4760702" y="0"/>
                </a:lnTo>
                <a:lnTo>
                  <a:pt x="4760702" y="6856413"/>
                </a:lnTo>
                <a:lnTo>
                  <a:pt x="168269" y="6856413"/>
                </a:lnTo>
                <a:lnTo>
                  <a:pt x="228520" y="6494592"/>
                </a:lnTo>
                <a:cubicBezTo>
                  <a:pt x="521784" y="4449343"/>
                  <a:pt x="126947" y="2404092"/>
                  <a:pt x="14408" y="35884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27754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A0EFE-B6EC-A5B4-671E-3B2CD11E4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1223"/>
            <a:ext cx="2835554" cy="55578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3600" b="1" i="0" u="none" strike="noStrike" baseline="0" dirty="0"/>
              <a:t>Benefits of Learning Excel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5C20A-9061-6640-BF4A-5A6E92865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33369" y="647700"/>
            <a:ext cx="4925960" cy="55578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>
              <a:buNone/>
            </a:pPr>
            <a:r>
              <a:rPr lang="en-US" sz="1800" b="1" i="0" u="none" strike="noStrike" baseline="0" dirty="0"/>
              <a:t>How Excel Helps You</a:t>
            </a:r>
          </a:p>
          <a:p>
            <a:pPr marL="0" marR="0" lvl="0" indent="0">
              <a:buNone/>
            </a:pPr>
            <a:r>
              <a:rPr lang="en-US" sz="1800" b="1" i="0" u="none" strike="noStrike" baseline="0" dirty="0"/>
              <a:t>1. Saves Time</a:t>
            </a:r>
          </a:p>
          <a:p>
            <a:pPr marL="0" marR="0" lvl="0" indent="0">
              <a:buNone/>
            </a:pPr>
            <a:r>
              <a:rPr lang="en-US" sz="1800" b="0" i="0" u="none" strike="noStrike" baseline="0" dirty="0"/>
              <a:t>Quick calculations and reports.</a:t>
            </a:r>
          </a:p>
          <a:p>
            <a:pPr marL="0" marR="0" lvl="0" indent="0">
              <a:buNone/>
            </a:pPr>
            <a:r>
              <a:rPr lang="en-US" sz="1800" b="1" i="0" u="none" strike="noStrike" baseline="0" dirty="0"/>
              <a:t>2. Improves Accuracy</a:t>
            </a:r>
          </a:p>
          <a:p>
            <a:pPr marL="0" marR="0" lvl="0" indent="0">
              <a:buNone/>
            </a:pPr>
            <a:r>
              <a:rPr lang="en-US" sz="1800" b="0" i="0" u="none" strike="noStrike" baseline="0" dirty="0"/>
              <a:t>Reduces manual calculation work.</a:t>
            </a:r>
          </a:p>
          <a:p>
            <a:pPr marL="0" marR="0" lvl="0" indent="0">
              <a:buNone/>
            </a:pPr>
            <a:r>
              <a:rPr lang="en-US" sz="1800" b="1" i="0" u="none" strike="noStrike" baseline="0" dirty="0"/>
              <a:t>3. Organizes Information</a:t>
            </a:r>
          </a:p>
          <a:p>
            <a:pPr marL="0" marR="0" lvl="0" indent="0">
              <a:buNone/>
            </a:pPr>
            <a:r>
              <a:rPr lang="en-US" sz="1800" b="0" i="0" u="none" strike="noStrike" baseline="0" dirty="0"/>
              <a:t>Keeps data in a structured format.</a:t>
            </a:r>
          </a:p>
          <a:p>
            <a:pPr marL="0" marR="0" lvl="0" indent="0">
              <a:buNone/>
            </a:pPr>
            <a:r>
              <a:rPr lang="en-US" sz="1800" b="1" i="0" u="none" strike="noStrike" baseline="0" dirty="0"/>
              <a:t>4. Supports Analysis</a:t>
            </a:r>
          </a:p>
          <a:p>
            <a:pPr marL="0" marR="0" lvl="0" indent="0">
              <a:buNone/>
            </a:pPr>
            <a:r>
              <a:rPr lang="en-US" sz="1800" b="0" i="0" u="none" strike="noStrike" baseline="0" dirty="0"/>
              <a:t>Helps identify patterns and trends.</a:t>
            </a:r>
          </a:p>
          <a:p>
            <a:pPr marL="0" marR="0" lvl="0" indent="0">
              <a:buNone/>
            </a:pPr>
            <a:r>
              <a:rPr lang="en-US" sz="1800" b="1" i="0" u="none" strike="noStrike" baseline="0" dirty="0"/>
              <a:t>5. Improves Productivity</a:t>
            </a:r>
          </a:p>
          <a:p>
            <a:pPr marL="0" marR="0" lvl="0" indent="0">
              <a:buNone/>
            </a:pPr>
            <a:r>
              <a:rPr lang="en-US" sz="1800" b="0" i="0" u="none" strike="noStrike" baseline="0" dirty="0"/>
              <a:t>Allows users to complete tasks efficiently.</a:t>
            </a:r>
          </a:p>
          <a:p>
            <a:pPr marL="0" marR="0" lvl="0" indent="0">
              <a:buNone/>
            </a:pPr>
            <a:r>
              <a:rPr lang="en-US" sz="1800" b="1" i="0" u="none" strike="noStrike" baseline="0" dirty="0"/>
              <a:t>6. Builds Professional Confidence</a:t>
            </a:r>
          </a:p>
          <a:p>
            <a:pPr marL="0" marR="0" lvl="0" indent="0">
              <a:buNone/>
            </a:pPr>
            <a:r>
              <a:rPr lang="en-US" sz="1800" b="0" i="0" u="none" strike="noStrike" baseline="0" dirty="0"/>
              <a:t>Makes students more prepared for workplace tasks</a:t>
            </a:r>
            <a:r>
              <a:rPr lang="en-US" sz="1500" b="0" i="0" u="none" strike="noStrike" baseline="0" dirty="0"/>
              <a:t>.</a:t>
            </a:r>
          </a:p>
        </p:txBody>
      </p:sp>
      <p:pic>
        <p:nvPicPr>
          <p:cNvPr id="5" name="Picture 4" descr="Angled shot of pen on a graph">
            <a:extLst>
              <a:ext uri="{FF2B5EF4-FFF2-40B4-BE49-F238E27FC236}">
                <a16:creationId xmlns:a16="http://schemas.microsoft.com/office/drawing/2014/main" id="{DB322AAD-95F2-E642-4F61-23C651BDE7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93" r="45559" b="-2"/>
          <a:stretch>
            <a:fillRect/>
          </a:stretch>
        </p:blipFill>
        <p:spPr>
          <a:xfrm>
            <a:off x="7431299" y="1"/>
            <a:ext cx="4760702" cy="6856413"/>
          </a:xfrm>
          <a:custGeom>
            <a:avLst/>
            <a:gdLst/>
            <a:ahLst/>
            <a:cxnLst/>
            <a:rect l="l" t="t" r="r" b="b"/>
            <a:pathLst>
              <a:path w="4760702" h="6856413">
                <a:moveTo>
                  <a:pt x="0" y="0"/>
                </a:moveTo>
                <a:lnTo>
                  <a:pt x="4760702" y="0"/>
                </a:lnTo>
                <a:lnTo>
                  <a:pt x="4760702" y="6856413"/>
                </a:lnTo>
                <a:lnTo>
                  <a:pt x="168269" y="6856413"/>
                </a:lnTo>
                <a:lnTo>
                  <a:pt x="228520" y="6494592"/>
                </a:lnTo>
                <a:cubicBezTo>
                  <a:pt x="521784" y="4449343"/>
                  <a:pt x="126947" y="2404092"/>
                  <a:pt x="14408" y="35884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88705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CA1BF7-340A-8E14-61ED-26CB730A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9193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baseline="0" dirty="0"/>
              <a:t>Excel for BBA Students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1BAB7-231E-AF68-AD5A-62C3F745B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0" y="1524000"/>
            <a:ext cx="5334197" cy="507344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>
              <a:buFont typeface="Wingdings" panose="05000000000000000000" pitchFamily="2" charset="2"/>
              <a:buChar char="Ø"/>
            </a:pPr>
            <a:r>
              <a:rPr lang="en-US" sz="2400" b="1" i="0" u="none" strike="noStrike" baseline="0" dirty="0"/>
              <a:t>Excel in Business Management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/>
              <a:t>BBA students can use Excel for: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/>
              <a:t>Sales tracking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/>
              <a:t>Marketing analysis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/>
              <a:t>Budget planning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/>
              <a:t>Customer data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/>
              <a:t>Business reports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/>
              <a:t>Basic business dashboards</a:t>
            </a:r>
          </a:p>
          <a:p>
            <a:pPr marR="0" lvl="0">
              <a:buFont typeface="Wingdings" panose="05000000000000000000" pitchFamily="2" charset="2"/>
              <a:buChar char="Ø"/>
            </a:pPr>
            <a:r>
              <a:rPr lang="en-US" sz="2400" b="1" i="0" u="none" strike="noStrike" baseline="0" dirty="0"/>
              <a:t>Focus</a:t>
            </a:r>
          </a:p>
          <a:p>
            <a:pPr marL="0" marR="0" lvl="0" indent="0">
              <a:buNone/>
            </a:pPr>
            <a:r>
              <a:rPr lang="en-US" sz="2400" b="1" i="0" u="none" strike="noStrike" baseline="0" dirty="0"/>
              <a:t>Business operations and reporting</a:t>
            </a:r>
            <a:endParaRPr lang="en-US" sz="2400" b="0" i="0" u="none" strike="noStrike" baseline="0" dirty="0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F6B0CA68-0BC9-1606-2E0B-EE788FA216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21" r="30642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90673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AC26C-5850-3669-B40C-AC48FEA3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549" y="646471"/>
            <a:ext cx="2647790" cy="55578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3600" b="1" dirty="0"/>
              <a:t>Excel for BCA Students</a:t>
            </a:r>
            <a:endParaRPr lang="en-US" sz="3600" b="1" i="0" u="none" strike="noStrike" baseline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98D64-4426-51F1-4FE3-AB5B5AB29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7227" y="647700"/>
            <a:ext cx="4924072" cy="55578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>
              <a:buFont typeface="Wingdings" panose="05000000000000000000" pitchFamily="2" charset="2"/>
              <a:buChar char="Ø"/>
            </a:pPr>
            <a:r>
              <a:rPr lang="en-US" sz="2400" b="1" i="0" u="none" strike="noStrike" baseline="0" dirty="0"/>
              <a:t>BCA students can use Excel for: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/>
              <a:t>Data preparation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/>
              <a:t>Data analysis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/>
              <a:t>Project data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/>
              <a:t>Database exports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/>
              <a:t>Data cleaning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/>
              <a:t>Technical reporting</a:t>
            </a:r>
          </a:p>
          <a:p>
            <a:pPr marR="0" lvl="0">
              <a:buFont typeface="Wingdings" panose="05000000000000000000" pitchFamily="2" charset="2"/>
              <a:buChar char="Ø"/>
            </a:pPr>
            <a:r>
              <a:rPr lang="en-US" sz="2400" b="1" i="0" u="none" strike="noStrike" baseline="0" dirty="0"/>
              <a:t>Focus</a:t>
            </a:r>
          </a:p>
          <a:p>
            <a:pPr marL="0" marR="0" lvl="0" indent="0">
              <a:buNone/>
            </a:pPr>
            <a:r>
              <a:rPr lang="en-US" sz="2400" b="1" i="0" u="none" strike="noStrike" baseline="0" dirty="0"/>
              <a:t>Data and technology support</a:t>
            </a:r>
            <a:endParaRPr lang="en-US" sz="2400" b="0" i="0" u="none" strike="noStrike" baseline="0" dirty="0"/>
          </a:p>
        </p:txBody>
      </p:sp>
      <p:pic>
        <p:nvPicPr>
          <p:cNvPr id="5" name="Picture 4" descr="Stock exchange numbers">
            <a:extLst>
              <a:ext uri="{FF2B5EF4-FFF2-40B4-BE49-F238E27FC236}">
                <a16:creationId xmlns:a16="http://schemas.microsoft.com/office/drawing/2014/main" id="{527543DD-E64A-536D-E3C1-EBD5A14280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876" r="24776" b="-2"/>
          <a:stretch>
            <a:fillRect/>
          </a:stretch>
        </p:blipFill>
        <p:spPr>
          <a:xfrm>
            <a:off x="7431299" y="1"/>
            <a:ext cx="4760702" cy="6856413"/>
          </a:xfrm>
          <a:custGeom>
            <a:avLst/>
            <a:gdLst/>
            <a:ahLst/>
            <a:cxnLst/>
            <a:rect l="l" t="t" r="r" b="b"/>
            <a:pathLst>
              <a:path w="4760702" h="6856413">
                <a:moveTo>
                  <a:pt x="0" y="0"/>
                </a:moveTo>
                <a:lnTo>
                  <a:pt x="4760702" y="0"/>
                </a:lnTo>
                <a:lnTo>
                  <a:pt x="4760702" y="6856413"/>
                </a:lnTo>
                <a:lnTo>
                  <a:pt x="168269" y="6856413"/>
                </a:lnTo>
                <a:lnTo>
                  <a:pt x="228520" y="6494592"/>
                </a:lnTo>
                <a:cubicBezTo>
                  <a:pt x="521784" y="4449343"/>
                  <a:pt x="126947" y="2404092"/>
                  <a:pt x="14408" y="35884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68929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hand holding a pen and shading circles on a sheet">
            <a:extLst>
              <a:ext uri="{FF2B5EF4-FFF2-40B4-BE49-F238E27FC236}">
                <a16:creationId xmlns:a16="http://schemas.microsoft.com/office/drawing/2014/main" id="{3F4DDF87-CE0A-2EAC-7BA1-718E9A236D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69" r="-1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32B1BC-77E9-6EA2-8CD2-6D1893935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407" y="0"/>
            <a:ext cx="5897544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3700" b="1" i="0" u="none" strike="noStrike" baseline="0" dirty="0"/>
              <a:t>Excel in Management and Decision-Making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99A95F-4611-7D22-2C87-5191F2F9D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1408" y="1899912"/>
            <a:ext cx="5062392" cy="4601372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>
              <a:buFont typeface="Wingdings" panose="05000000000000000000" pitchFamily="2" charset="2"/>
              <a:buChar char="Ø"/>
            </a:pPr>
            <a:r>
              <a:rPr lang="en-US" sz="2400" b="1" i="0" u="none" strike="noStrike" baseline="0" dirty="0"/>
              <a:t>MBA students can use Excel for: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/>
              <a:t>Business analysis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/>
              <a:t>Financial planning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/>
              <a:t>Performance measurement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/>
              <a:t>Forecasting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/>
              <a:t>KPI analysis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/>
              <a:t>Management reports</a:t>
            </a:r>
          </a:p>
          <a:p>
            <a:pPr marR="0" lvl="0">
              <a:buFont typeface="Wingdings" panose="05000000000000000000" pitchFamily="2" charset="2"/>
              <a:buChar char="Ø"/>
            </a:pPr>
            <a:r>
              <a:rPr lang="en-US" sz="2400" b="1" i="0" u="none" strike="noStrike" baseline="0" dirty="0"/>
              <a:t>Focus</a:t>
            </a:r>
          </a:p>
          <a:p>
            <a:pPr marL="0" marR="0" lvl="0" indent="0">
              <a:buNone/>
            </a:pPr>
            <a:r>
              <a:rPr lang="en-US" sz="2400" b="1" i="0" u="none" strike="noStrike" baseline="0" dirty="0"/>
              <a:t>Analysis and business decision-making</a:t>
            </a:r>
            <a:endParaRPr lang="en-US" sz="2400" b="0" i="0" u="none" strike="noStrike" baseline="0" dirty="0"/>
          </a:p>
        </p:txBody>
      </p:sp>
    </p:spTree>
    <p:extLst>
      <p:ext uri="{BB962C8B-B14F-4D97-AF65-F5344CB8AC3E}">
        <p14:creationId xmlns:p14="http://schemas.microsoft.com/office/powerpoint/2010/main" val="1645928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D7F54D-9547-FBB5-C196-B751163FD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Excel Learning Roadmap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DDB6B-C9E1-5B2C-B44A-5EE4CB681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>
              <a:buNone/>
            </a:pPr>
            <a:r>
              <a:rPr lang="en-US" sz="2200" b="1" i="0" u="none" strike="noStrike" baseline="0" dirty="0"/>
              <a:t>From Beginner to Professional</a:t>
            </a:r>
          </a:p>
          <a:p>
            <a:pPr marL="0" marR="0" lvl="0" indent="0">
              <a:buNone/>
            </a:pPr>
            <a:r>
              <a:rPr lang="en-US" sz="2200" b="1" i="0" u="none" strike="noStrike" baseline="0" dirty="0"/>
              <a:t>Stage 1 – Basic Excel</a:t>
            </a:r>
          </a:p>
          <a:p>
            <a:pPr marL="0" marR="0" lvl="0" indent="0">
              <a:buNone/>
            </a:pPr>
            <a:r>
              <a:rPr lang="en-US" sz="2200" b="0" i="0" u="none" strike="noStrike" baseline="0" dirty="0"/>
              <a:t>Data Entry + Formatting + Basic Formulas</a:t>
            </a:r>
          </a:p>
          <a:p>
            <a:pPr marL="0" marR="0" lvl="0" indent="0">
              <a:buNone/>
            </a:pPr>
            <a:r>
              <a:rPr lang="en-US" sz="2200" b="1" i="0" u="none" strike="noStrike" baseline="0" dirty="0"/>
              <a:t>Stage 2 – Intermediate Excel</a:t>
            </a:r>
          </a:p>
          <a:p>
            <a:pPr marL="0" marR="0" lvl="0" indent="0">
              <a:buNone/>
            </a:pPr>
            <a:r>
              <a:rPr lang="en-US" sz="2200" b="0" i="0" u="none" strike="noStrike" baseline="0" dirty="0"/>
              <a:t>Logical Functions + Lookup + PivotTables</a:t>
            </a:r>
          </a:p>
          <a:p>
            <a:pPr marL="0" marR="0" lvl="0" indent="0">
              <a:buNone/>
            </a:pPr>
            <a:r>
              <a:rPr lang="en-US" sz="2200" b="1" i="0" u="none" strike="noStrike" baseline="0" dirty="0"/>
              <a:t>Stage 3 – Advanced Excel</a:t>
            </a:r>
          </a:p>
          <a:p>
            <a:pPr marL="0" marR="0" lvl="0" indent="0">
              <a:buNone/>
            </a:pPr>
            <a:r>
              <a:rPr lang="en-US" sz="2200" b="0" i="0" u="none" strike="noStrike" baseline="0" dirty="0"/>
              <a:t>Complex Formulas + Dynamic Functions</a:t>
            </a:r>
          </a:p>
          <a:p>
            <a:pPr marL="0" marR="0" lvl="0" indent="0">
              <a:buNone/>
            </a:pPr>
            <a:r>
              <a:rPr lang="en-US" sz="2200" b="1" i="0" u="none" strike="noStrike" baseline="0" dirty="0"/>
              <a:t>Stage 4 – Data Preparation</a:t>
            </a:r>
          </a:p>
          <a:p>
            <a:pPr marL="0" marR="0" lvl="0" indent="0">
              <a:buNone/>
            </a:pPr>
            <a:r>
              <a:rPr lang="en-US" sz="2200" b="0" i="0" u="none" strike="noStrike" baseline="0" dirty="0"/>
              <a:t>Power Query + Data Cleaning</a:t>
            </a:r>
          </a:p>
          <a:p>
            <a:pPr marL="0" marR="0" lvl="0" indent="0">
              <a:buNone/>
            </a:pPr>
            <a:r>
              <a:rPr lang="en-US" sz="2200" b="1" i="0" u="none" strike="noStrike" baseline="0" dirty="0"/>
              <a:t>Stage 5 – Reporting</a:t>
            </a:r>
          </a:p>
          <a:p>
            <a:pPr marL="0" marR="0" lvl="0" indent="0">
              <a:buNone/>
            </a:pPr>
            <a:r>
              <a:rPr lang="en-US" sz="2200" b="0" i="0" u="none" strike="noStrike" baseline="0" dirty="0"/>
              <a:t>Charts + Dashboards + KPIs</a:t>
            </a:r>
          </a:p>
          <a:p>
            <a:pPr marL="0" marR="0" lvl="0" indent="0">
              <a:buNone/>
            </a:pPr>
            <a:r>
              <a:rPr lang="en-US" sz="2200" b="1" i="0" u="none" strike="noStrike" baseline="0" dirty="0"/>
              <a:t>Stage 6 – Next-Level Skills</a:t>
            </a:r>
          </a:p>
          <a:p>
            <a:pPr marL="0" marR="0" lvl="0" indent="0">
              <a:buNone/>
            </a:pPr>
            <a:r>
              <a:rPr lang="en-US" sz="2200" b="0" i="0" u="none" strike="noStrike" baseline="0" dirty="0"/>
              <a:t>SQL + Power BI +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2700611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62F773D5-9A09-B4BC-F6E0-2909B07DDD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b="15730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56F299-788C-E9B9-8587-CEFF8FC0E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996" y="591343"/>
            <a:ext cx="3200400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3700" b="1" i="0" u="none" strike="noStrike" baseline="0" dirty="0">
                <a:solidFill>
                  <a:srgbClr val="FFFFFF"/>
                </a:solidFill>
              </a:rPr>
              <a:t>Career Opportunities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698BD-AE82-BD19-196A-1E88DEE49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7308" y="110532"/>
            <a:ext cx="6906491" cy="66218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>
              <a:buNone/>
            </a:pPr>
            <a:r>
              <a:rPr lang="en-US" sz="2200" b="1" i="0" u="none" strike="noStrike" baseline="0" dirty="0">
                <a:solidFill>
                  <a:srgbClr val="FFFFFF"/>
                </a:solidFill>
              </a:rPr>
              <a:t>Jobs Where Excel Skills Are Valuable</a:t>
            </a:r>
          </a:p>
          <a:p>
            <a:pPr marL="0" marR="0" lvl="0" indent="0">
              <a:buNone/>
            </a:pPr>
            <a:r>
              <a:rPr lang="en-US" sz="2200" b="0" i="0" u="none" strike="noStrike" baseline="0" dirty="0">
                <a:solidFill>
                  <a:srgbClr val="FFFFFF"/>
                </a:solidFill>
              </a:rPr>
              <a:t>MIS Executive</a:t>
            </a:r>
          </a:p>
          <a:p>
            <a:pPr marL="0" marR="0" lvl="0" indent="0">
              <a:buNone/>
            </a:pPr>
            <a:r>
              <a:rPr lang="en-US" sz="2200" b="0" i="0" u="none" strike="noStrike" baseline="0" dirty="0">
                <a:solidFill>
                  <a:srgbClr val="FFFFFF"/>
                </a:solidFill>
              </a:rPr>
              <a:t>Data Analyst</a:t>
            </a:r>
          </a:p>
          <a:p>
            <a:pPr marL="0" marR="0" lvl="0" indent="0">
              <a:buNone/>
            </a:pPr>
            <a:r>
              <a:rPr lang="en-US" sz="2200" b="0" i="0" u="none" strike="noStrike" baseline="0" dirty="0">
                <a:solidFill>
                  <a:srgbClr val="FFFFFF"/>
                </a:solidFill>
              </a:rPr>
              <a:t>Business Analyst</a:t>
            </a:r>
          </a:p>
          <a:p>
            <a:pPr marL="0" marR="0" lvl="0" indent="0">
              <a:buNone/>
            </a:pPr>
            <a:r>
              <a:rPr lang="en-US" sz="2200" b="0" i="0" u="none" strike="noStrike" baseline="0" dirty="0">
                <a:solidFill>
                  <a:srgbClr val="FFFFFF"/>
                </a:solidFill>
              </a:rPr>
              <a:t>Operations Executive</a:t>
            </a:r>
          </a:p>
          <a:p>
            <a:pPr marL="0" marR="0" lvl="0" indent="0">
              <a:buNone/>
            </a:pPr>
            <a:r>
              <a:rPr lang="en-US" sz="2200" b="0" i="0" u="none" strike="noStrike" baseline="0" dirty="0">
                <a:solidFill>
                  <a:srgbClr val="FFFFFF"/>
                </a:solidFill>
              </a:rPr>
              <a:t>Financial Analyst</a:t>
            </a:r>
          </a:p>
          <a:p>
            <a:pPr marL="0" marR="0" lvl="0" indent="0">
              <a:buNone/>
            </a:pPr>
            <a:r>
              <a:rPr lang="en-US" sz="2200" b="0" i="0" u="none" strike="noStrike" baseline="0" dirty="0">
                <a:solidFill>
                  <a:srgbClr val="FFFFFF"/>
                </a:solidFill>
              </a:rPr>
              <a:t>Accounts Executive</a:t>
            </a:r>
          </a:p>
          <a:p>
            <a:pPr marL="0" marR="0" lvl="0" indent="0">
              <a:buNone/>
            </a:pPr>
            <a:r>
              <a:rPr lang="en-US" sz="2200" b="0" i="0" u="none" strike="noStrike" baseline="0" dirty="0">
                <a:solidFill>
                  <a:srgbClr val="FFFFFF"/>
                </a:solidFill>
              </a:rPr>
              <a:t>HR Analyst</a:t>
            </a:r>
          </a:p>
          <a:p>
            <a:pPr marL="0" marR="0" lvl="0" indent="0">
              <a:buNone/>
            </a:pPr>
            <a:r>
              <a:rPr lang="en-US" sz="2200" b="0" i="0" u="none" strike="noStrike" baseline="0" dirty="0">
                <a:solidFill>
                  <a:srgbClr val="FFFFFF"/>
                </a:solidFill>
              </a:rPr>
              <a:t>Sales Analyst</a:t>
            </a:r>
          </a:p>
          <a:p>
            <a:pPr marL="0" marR="0" lvl="0" indent="0">
              <a:buNone/>
            </a:pPr>
            <a:r>
              <a:rPr lang="en-US" sz="2200" b="0" i="0" u="none" strike="noStrike" baseline="0" dirty="0">
                <a:solidFill>
                  <a:srgbClr val="FFFFFF"/>
                </a:solidFill>
              </a:rPr>
              <a:t>Reporting Executive</a:t>
            </a:r>
          </a:p>
          <a:p>
            <a:pPr marL="0" marR="0" lvl="0" indent="0">
              <a:buNone/>
            </a:pPr>
            <a:r>
              <a:rPr lang="en-US" sz="2200" b="0" i="0" u="none" strike="noStrike" baseline="0" dirty="0">
                <a:solidFill>
                  <a:srgbClr val="FFFFFF"/>
                </a:solidFill>
              </a:rPr>
              <a:t>Project Coordinator</a:t>
            </a:r>
          </a:p>
          <a:p>
            <a:pPr marL="0" marR="0" lvl="0" indent="0">
              <a:buNone/>
            </a:pPr>
            <a:r>
              <a:rPr lang="en-US" sz="2200" b="1" i="0" u="none" strike="noStrike" baseline="0" dirty="0">
                <a:solidFill>
                  <a:srgbClr val="FFFFFF"/>
                </a:solidFill>
              </a:rPr>
              <a:t>Important</a:t>
            </a:r>
          </a:p>
          <a:p>
            <a:pPr marL="0" marR="0" lvl="0" indent="0">
              <a:buNone/>
            </a:pPr>
            <a:r>
              <a:rPr lang="en-US" sz="2200" b="0" i="0" u="none" strike="noStrike" baseline="0" dirty="0">
                <a:solidFill>
                  <a:srgbClr val="FFFFFF"/>
                </a:solidFill>
              </a:rPr>
              <a:t>Different jobs require different levels of Excel skills.</a:t>
            </a:r>
          </a:p>
        </p:txBody>
      </p:sp>
    </p:spTree>
    <p:extLst>
      <p:ext uri="{BB962C8B-B14F-4D97-AF65-F5344CB8AC3E}">
        <p14:creationId xmlns:p14="http://schemas.microsoft.com/office/powerpoint/2010/main" val="1833217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4B20B13-A0EF-B4D6-82D4-2F4C19564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83" y="646557"/>
            <a:ext cx="4421627" cy="547864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800" b="1" i="0" u="none" strike="noStrike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Industries That Use Excel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FC5F6-5373-DA7C-3FA0-E26DB0D68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88102" y="150725"/>
            <a:ext cx="5702775" cy="651968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>
              <a:buNone/>
            </a:pPr>
            <a:r>
              <a:rPr lang="en-US" sz="1800" b="1" i="0" u="none" strike="noStrike" baseline="0" dirty="0">
                <a:solidFill>
                  <a:schemeClr val="bg1"/>
                </a:solidFill>
              </a:rPr>
              <a:t>Excel Demand Across Sectors</a:t>
            </a:r>
          </a:p>
          <a:p>
            <a:pPr marL="0" marR="0" lvl="0" indent="0">
              <a:buNone/>
            </a:pPr>
            <a:r>
              <a:rPr lang="en-US" sz="1800" b="1" i="0" u="none" strike="noStrike" baseline="0" dirty="0">
                <a:solidFill>
                  <a:schemeClr val="bg1"/>
                </a:solidFill>
              </a:rPr>
              <a:t>Banking and Finance</a:t>
            </a:r>
          </a:p>
          <a:p>
            <a:pPr marL="0" marR="0" lvl="0" indent="0">
              <a:buNone/>
            </a:pPr>
            <a:r>
              <a:rPr lang="en-US" sz="1800" b="0" i="0" u="none" strike="noStrike" baseline="0" dirty="0">
                <a:solidFill>
                  <a:schemeClr val="bg1"/>
                </a:solidFill>
              </a:rPr>
              <a:t>Financial records and analysis.</a:t>
            </a:r>
          </a:p>
          <a:p>
            <a:pPr marL="0" marR="0" lvl="0" indent="0">
              <a:buNone/>
            </a:pPr>
            <a:r>
              <a:rPr lang="en-US" sz="1800" b="1" i="0" u="none" strike="noStrike" baseline="0" dirty="0">
                <a:solidFill>
                  <a:schemeClr val="bg1"/>
                </a:solidFill>
              </a:rPr>
              <a:t>IT and Technology</a:t>
            </a:r>
          </a:p>
          <a:p>
            <a:pPr marL="0" marR="0" lvl="0" indent="0">
              <a:buNone/>
            </a:pPr>
            <a:r>
              <a:rPr lang="en-US" sz="1800" b="0" i="0" u="none" strike="noStrike" baseline="0" dirty="0">
                <a:solidFill>
                  <a:schemeClr val="bg1"/>
                </a:solidFill>
              </a:rPr>
              <a:t>Data management and reporting.</a:t>
            </a:r>
          </a:p>
          <a:p>
            <a:pPr marL="0" marR="0" lvl="0" indent="0">
              <a:buNone/>
            </a:pPr>
            <a:r>
              <a:rPr lang="en-US" sz="1800" b="1" i="0" u="none" strike="noStrike" baseline="0" dirty="0">
                <a:solidFill>
                  <a:schemeClr val="bg1"/>
                </a:solidFill>
              </a:rPr>
              <a:t>Retail and E-Commerce</a:t>
            </a:r>
          </a:p>
          <a:p>
            <a:pPr marL="0" marR="0" lvl="0" indent="0">
              <a:buNone/>
            </a:pPr>
            <a:r>
              <a:rPr lang="en-US" sz="1800" b="0" i="0" u="none" strike="noStrike" baseline="0" dirty="0">
                <a:solidFill>
                  <a:schemeClr val="bg1"/>
                </a:solidFill>
              </a:rPr>
              <a:t>Sales and customer analysis.</a:t>
            </a:r>
          </a:p>
          <a:p>
            <a:pPr marL="0" marR="0" lvl="0" indent="0">
              <a:buNone/>
            </a:pPr>
            <a:r>
              <a:rPr lang="en-US" sz="1800" b="1" i="0" u="none" strike="noStrike" baseline="0" dirty="0">
                <a:solidFill>
                  <a:schemeClr val="bg1"/>
                </a:solidFill>
              </a:rPr>
              <a:t>Healthcare</a:t>
            </a:r>
          </a:p>
          <a:p>
            <a:pPr marL="0" marR="0" lvl="0" indent="0">
              <a:buNone/>
            </a:pPr>
            <a:r>
              <a:rPr lang="en-US" sz="1800" b="0" i="0" u="none" strike="noStrike" baseline="0" dirty="0">
                <a:solidFill>
                  <a:schemeClr val="bg1"/>
                </a:solidFill>
              </a:rPr>
              <a:t>Operational records and reports.</a:t>
            </a:r>
          </a:p>
          <a:p>
            <a:pPr marL="0" marR="0" lvl="0" indent="0">
              <a:buNone/>
            </a:pPr>
            <a:r>
              <a:rPr lang="en-US" sz="1800" b="1" i="0" u="none" strike="noStrike" baseline="0" dirty="0">
                <a:solidFill>
                  <a:schemeClr val="bg1"/>
                </a:solidFill>
              </a:rPr>
              <a:t>Manufacturing</a:t>
            </a:r>
          </a:p>
          <a:p>
            <a:pPr marL="0" marR="0" lvl="0" indent="0">
              <a:buNone/>
            </a:pPr>
            <a:r>
              <a:rPr lang="en-US" sz="1800" b="0" i="0" u="none" strike="noStrike" baseline="0" dirty="0">
                <a:solidFill>
                  <a:schemeClr val="bg1"/>
                </a:solidFill>
              </a:rPr>
              <a:t>Production and inventory tracking.</a:t>
            </a:r>
          </a:p>
          <a:p>
            <a:pPr marL="0" marR="0" lvl="0" indent="0">
              <a:buNone/>
            </a:pPr>
            <a:r>
              <a:rPr lang="en-US" sz="1800" b="1" i="0" u="none" strike="noStrike" baseline="0" dirty="0">
                <a:solidFill>
                  <a:schemeClr val="bg1"/>
                </a:solidFill>
              </a:rPr>
              <a:t>Human Resources</a:t>
            </a:r>
          </a:p>
          <a:p>
            <a:pPr marL="0" marR="0" lvl="0" indent="0">
              <a:buNone/>
            </a:pPr>
            <a:r>
              <a:rPr lang="en-US" sz="1800" b="0" i="0" u="none" strike="noStrike" baseline="0" dirty="0">
                <a:solidFill>
                  <a:schemeClr val="bg1"/>
                </a:solidFill>
              </a:rPr>
              <a:t>Employee information and reporting.</a:t>
            </a:r>
          </a:p>
          <a:p>
            <a:pPr marL="0" marR="0" lvl="0" indent="0">
              <a:buNone/>
            </a:pPr>
            <a:r>
              <a:rPr lang="en-US" sz="1800" b="1" i="0" u="none" strike="noStrike" baseline="0" dirty="0">
                <a:solidFill>
                  <a:schemeClr val="bg1"/>
                </a:solidFill>
              </a:rPr>
              <a:t>Education</a:t>
            </a:r>
          </a:p>
          <a:p>
            <a:pPr marL="0" marR="0" lvl="0" indent="0">
              <a:buNone/>
            </a:pPr>
            <a:r>
              <a:rPr lang="en-US" sz="1800" b="0" i="0" u="none" strike="noStrike" baseline="0" dirty="0">
                <a:solidFill>
                  <a:schemeClr val="bg1"/>
                </a:solidFill>
              </a:rPr>
              <a:t>Student records and performance reports.</a:t>
            </a:r>
          </a:p>
          <a:p>
            <a:pPr marL="0" marR="0" lvl="0" indent="0">
              <a:buNone/>
            </a:pPr>
            <a:r>
              <a:rPr lang="en-US" sz="1800" b="1" i="0" u="none" strike="noStrike" baseline="0" dirty="0">
                <a:solidFill>
                  <a:schemeClr val="bg1"/>
                </a:solidFill>
              </a:rPr>
              <a:t>Government and NGOs</a:t>
            </a:r>
          </a:p>
          <a:p>
            <a:pPr marL="0" marR="0" lvl="0" indent="0">
              <a:buNone/>
            </a:pPr>
            <a:r>
              <a:rPr lang="en-US" sz="1800" b="0" i="0" u="none" strike="noStrike" baseline="0" dirty="0">
                <a:solidFill>
                  <a:schemeClr val="bg1"/>
                </a:solidFill>
              </a:rPr>
              <a:t>MIS, surveys, and reporting.</a:t>
            </a:r>
          </a:p>
        </p:txBody>
      </p:sp>
    </p:spTree>
    <p:extLst>
      <p:ext uri="{BB962C8B-B14F-4D97-AF65-F5344CB8AC3E}">
        <p14:creationId xmlns:p14="http://schemas.microsoft.com/office/powerpoint/2010/main" val="3771430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78DAA5-A0AA-D694-41EE-A3B10B3E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225257"/>
            <a:ext cx="5334197" cy="7954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baseline="0" dirty="0"/>
              <a:t>Your Excel Career Path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36F2B-6FC0-5566-E325-3070D568F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0" y="904352"/>
            <a:ext cx="5910305" cy="581799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>
              <a:buFont typeface="Wingdings" panose="05000000000000000000" pitchFamily="2" charset="2"/>
              <a:buChar char="Ø"/>
            </a:pPr>
            <a:r>
              <a:rPr lang="en-US" sz="2400" b="1" i="0" u="none" strike="noStrike" baseline="0" dirty="0"/>
              <a:t>What Should You Learn Next?</a:t>
            </a:r>
          </a:p>
          <a:p>
            <a:pPr marR="0" lvl="0">
              <a:buFont typeface="Wingdings" panose="05000000000000000000" pitchFamily="2" charset="2"/>
              <a:buChar char="v"/>
            </a:pPr>
            <a:r>
              <a:rPr lang="en-US" sz="2400" i="0" u="none" strike="noStrike" baseline="0" dirty="0"/>
              <a:t>For Business Students</a:t>
            </a:r>
          </a:p>
          <a:p>
            <a:pPr marL="0" marR="0" lvl="0" indent="0">
              <a:buNone/>
            </a:pPr>
            <a:r>
              <a:rPr lang="en-US" sz="2400" i="0" u="none" strike="noStrike" baseline="0" dirty="0"/>
              <a:t>Excel → Business Analysis → Power BI</a:t>
            </a:r>
          </a:p>
          <a:p>
            <a:pPr marL="0" marR="0" lvl="0" indent="0">
              <a:buNone/>
            </a:pPr>
            <a:r>
              <a:rPr lang="en-US" sz="2400" i="0" u="none" strike="noStrike" baseline="0" dirty="0"/>
              <a:t>For Technology Students</a:t>
            </a:r>
          </a:p>
          <a:p>
            <a:pPr marL="0" marR="0" lvl="0" indent="0">
              <a:buNone/>
            </a:pPr>
            <a:r>
              <a:rPr lang="en-US" sz="2400" i="0" u="none" strike="noStrike" baseline="0" dirty="0"/>
              <a:t>Excel → SQL → Data Analysis → Python</a:t>
            </a:r>
          </a:p>
          <a:p>
            <a:pPr marL="0" marR="0" lvl="0" indent="0">
              <a:buNone/>
            </a:pPr>
            <a:endParaRPr lang="en-US" sz="2400" i="0" u="none" strike="noStrike" baseline="0" dirty="0"/>
          </a:p>
          <a:p>
            <a:pPr marR="0" lvl="0">
              <a:buFont typeface="Wingdings" panose="05000000000000000000" pitchFamily="2" charset="2"/>
              <a:buChar char="v"/>
            </a:pPr>
            <a:r>
              <a:rPr lang="en-US" sz="2400" i="0" u="none" strike="noStrike" baseline="0" dirty="0"/>
              <a:t>For Finance Students</a:t>
            </a:r>
          </a:p>
          <a:p>
            <a:pPr marL="0" marR="0" lvl="0" indent="0">
              <a:buNone/>
            </a:pPr>
            <a:r>
              <a:rPr lang="en-US" sz="2400" i="0" u="none" strike="noStrike" baseline="0" dirty="0"/>
              <a:t>Excel → Financial Analysis → Advanced Reporting</a:t>
            </a:r>
          </a:p>
          <a:p>
            <a:pPr marL="0" marR="0" lvl="0" indent="0">
              <a:buNone/>
            </a:pPr>
            <a:endParaRPr lang="en-US" sz="2400" i="0" u="none" strike="noStrike" baseline="0" dirty="0"/>
          </a:p>
          <a:p>
            <a:pPr marR="0" lvl="0">
              <a:buFont typeface="Wingdings" panose="05000000000000000000" pitchFamily="2" charset="2"/>
              <a:buChar char="v"/>
            </a:pPr>
            <a:r>
              <a:rPr lang="en-US" sz="2400" i="0" u="none" strike="noStrike" baseline="0" dirty="0"/>
              <a:t>For Management Students</a:t>
            </a:r>
          </a:p>
          <a:p>
            <a:pPr marL="0" marR="0" lvl="0" indent="0">
              <a:buNone/>
            </a:pPr>
            <a:r>
              <a:rPr lang="en-US" sz="2400" i="0" u="none" strike="noStrike" baseline="0" dirty="0"/>
              <a:t>Excel → Dashboards → Business Intelligence</a:t>
            </a:r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2FBEDB26-8982-4801-6866-9741821700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706" r="16457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1507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449CF8-88E0-1141-7FDD-48EDEAD2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748452"/>
            <a:ext cx="4748684" cy="35877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algn="ctr"/>
            <a:r>
              <a:rPr lang="en-US" b="1" i="0" u="none" strike="noStrik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E337B-AD69-FF0D-A82F-BF332ECEF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7270" y="575361"/>
            <a:ext cx="5520462" cy="5976163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>
              <a:buNone/>
            </a:pPr>
            <a:r>
              <a:rPr lang="en-US" b="1" i="0" u="none" strike="noStrike" baseline="0" dirty="0">
                <a:solidFill>
                  <a:schemeClr val="bg1"/>
                </a:solidFill>
              </a:rPr>
              <a:t>Excel is a Starting Point for Bigger Opportunities</a:t>
            </a:r>
          </a:p>
          <a:p>
            <a:pPr marL="0" marR="0" lvl="0" indent="0" algn="ctr">
              <a:buNone/>
            </a:pPr>
            <a:endParaRPr lang="en-US" b="1" i="0" u="none" strike="noStrike" baseline="0" dirty="0">
              <a:solidFill>
                <a:schemeClr val="bg1"/>
              </a:solidFill>
            </a:endParaRPr>
          </a:p>
          <a:p>
            <a:pPr marR="0" lvl="0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solidFill>
                  <a:schemeClr val="bg1"/>
                </a:solidFill>
              </a:rPr>
              <a:t>Excel helps you develop the ability to: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>
                <a:solidFill>
                  <a:schemeClr val="bg1"/>
                </a:solidFill>
              </a:rPr>
              <a:t>Work with data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>
                <a:solidFill>
                  <a:schemeClr val="bg1"/>
                </a:solidFill>
              </a:rPr>
              <a:t>Solve business problems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>
                <a:solidFill>
                  <a:schemeClr val="bg1"/>
                </a:solidFill>
              </a:rPr>
              <a:t>Create useful reports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>
                <a:solidFill>
                  <a:schemeClr val="bg1"/>
                </a:solidFill>
              </a:rPr>
              <a:t>Analyze information</a:t>
            </a:r>
          </a:p>
          <a:p>
            <a:pPr marL="0" marR="0" lvl="0" indent="0">
              <a:buNone/>
            </a:pPr>
            <a:r>
              <a:rPr lang="en-US" sz="2400" b="0" i="0" u="none" strike="noStrike" baseline="0" dirty="0">
                <a:solidFill>
                  <a:schemeClr val="bg1"/>
                </a:solidFill>
              </a:rPr>
              <a:t>Prepare for professional roles</a:t>
            </a:r>
          </a:p>
          <a:p>
            <a:pPr marR="0" lvl="0">
              <a:buFont typeface="Wingdings" panose="05000000000000000000" pitchFamily="2" charset="2"/>
              <a:buChar char="Ø"/>
            </a:pPr>
            <a:r>
              <a:rPr lang="en-US" sz="2400" b="1" i="0" u="none" strike="noStrike" baseline="0" dirty="0">
                <a:solidFill>
                  <a:schemeClr val="bg1"/>
                </a:solidFill>
              </a:rPr>
              <a:t>Final Message</a:t>
            </a:r>
          </a:p>
          <a:p>
            <a:pPr marL="0" marR="0" lvl="0" indent="0">
              <a:buNone/>
            </a:pPr>
            <a:r>
              <a:rPr lang="en-US" sz="2400" b="1" i="0" u="none" strike="noStrike" baseline="0" dirty="0">
                <a:solidFill>
                  <a:schemeClr val="bg1"/>
                </a:solidFill>
              </a:rPr>
              <a:t>Start with Excel. Build your skills. Grow your career.</a:t>
            </a:r>
            <a:endParaRPr lang="en-US" sz="2400" b="0" i="0" u="none" strike="noStrike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142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Aerial view of robots sitting on blue chairs">
            <a:extLst>
              <a:ext uri="{FF2B5EF4-FFF2-40B4-BE49-F238E27FC236}">
                <a16:creationId xmlns:a16="http://schemas.microsoft.com/office/drawing/2014/main" id="{C37E0C18-690D-248F-DFAA-C3B3E2ABBA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789" t="6484" r="8720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47A0E2-5050-CC55-AF55-093097939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800" b="1" i="0" u="none" strike="noStrike" baseline="0">
                <a:ln w="22225">
                  <a:solidFill>
                    <a:schemeClr val="tx1"/>
                  </a:solidFill>
                  <a:miter lim="800000"/>
                </a:ln>
                <a:solidFill>
                  <a:schemeClr val="bg1"/>
                </a:solidFill>
              </a:rPr>
              <a:t>Q&amp;A</a:t>
            </a:r>
            <a:endParaRPr lang="en-US" sz="4800" b="0" i="0" u="none" strike="noStrike" baseline="0">
              <a:ln w="22225">
                <a:solidFill>
                  <a:schemeClr val="tx1"/>
                </a:solidFill>
                <a:miter lim="800000"/>
              </a:ln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7A9ED-BC2E-45A1-AEBF-993B09F91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>
              <a:buNone/>
            </a:pPr>
            <a:r>
              <a:rPr lang="en-US" sz="2000" b="0" i="0" u="none" strike="noStrike" baseline="0">
                <a:solidFill>
                  <a:schemeClr val="bg1"/>
                </a:solidFill>
              </a:rPr>
              <a:t>Open the floor for any questions from the audience.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13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638881" y="457200"/>
            <a:ext cx="10909640" cy="136861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spc="6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 YOUR ATTENTIONS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erson and person shaking hands&#10;&#10;Description automatically generated">
            <a:extLst>
              <a:ext uri="{FF2B5EF4-FFF2-40B4-BE49-F238E27FC236}">
                <a16:creationId xmlns:a16="http://schemas.microsoft.com/office/drawing/2014/main" id="{D1918A34-5326-96CD-1DCD-6D775B6B9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26286" y="2642616"/>
            <a:ext cx="5401923" cy="3605784"/>
          </a:xfrm>
          <a:prstGeom prst="rect">
            <a:avLst/>
          </a:prstGeom>
        </p:spPr>
      </p:pic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1E279B1-1BAD-2B05-1B2B-C54D43DDBD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254496" y="3041904"/>
            <a:ext cx="5614416" cy="280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28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BEEE67-6D76-4423-9C04-FE33520EA689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76844851-53b3-464d-9ee7-12f65516da9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327</TotalTime>
  <Words>889</Words>
  <Application>Microsoft Office PowerPoint</Application>
  <PresentationFormat>Widescreen</PresentationFormat>
  <Paragraphs>241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What is Microsoft Excel?</vt:lpstr>
      <vt:lpstr>PowerPoint Presentation</vt:lpstr>
      <vt:lpstr>Where Do We Use Excel?</vt:lpstr>
      <vt:lpstr>Why Learn Excel?</vt:lpstr>
      <vt:lpstr>Excel Generations</vt:lpstr>
      <vt:lpstr>PowerPoint Presentation</vt:lpstr>
      <vt:lpstr>EXCEL BASICS</vt:lpstr>
      <vt:lpstr>Basic Excel Skills</vt:lpstr>
      <vt:lpstr>EXCEL DASHBOARD EXAMPLE</vt:lpstr>
      <vt:lpstr>From Raw Data to Dashboard</vt:lpstr>
      <vt:lpstr>What Can You Create with Excel?</vt:lpstr>
      <vt:lpstr>Benefits of Learning Excel</vt:lpstr>
      <vt:lpstr>Excel for BBA Students</vt:lpstr>
      <vt:lpstr>Excel for BCA Students</vt:lpstr>
      <vt:lpstr>Excel in Management and Decision-Making</vt:lpstr>
      <vt:lpstr>Excel Learning Roadmap</vt:lpstr>
      <vt:lpstr>Career Opportunities</vt:lpstr>
      <vt:lpstr>Industries That Use Excel</vt:lpstr>
      <vt:lpstr>Your Excel Career Path</vt:lpstr>
      <vt:lpstr>Conclusion</vt:lpstr>
      <vt:lpstr>Q&amp;A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Hanish Pathak</dc:creator>
  <cp:lastModifiedBy>Hanish Pathak</cp:lastModifiedBy>
  <cp:revision>5</cp:revision>
  <dcterms:created xsi:type="dcterms:W3CDTF">2026-08-23T17:59:36Z</dcterms:created>
  <dcterms:modified xsi:type="dcterms:W3CDTF">2026-08-24T16:42:24Z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2026-08-23T17:59:59Z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85e89f01-74db-4f33-b6d4-cf1dafa1f386</vt:lpwstr>
  </property>
  <property fmtid="{D5CDD505-2E9C-101B-9397-08002B2CF9AE}" pid="7" name="MSIP_Label_defa4170-0d19-0005-0004-bc88714345d2_ActionId">
    <vt:lpwstr>70cdd7cc-441a-46f6-b7ea-90bb21382d84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